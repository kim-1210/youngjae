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sigmoid</c:v>
                </c:pt>
              </c:strCache>
            </c:strRef>
          </c:tx>
          <c:spPr>
            <a:solidFill>
              <a:srgbClr val="c0504d"/>
            </a:solidFill>
            <a:ln w="38160">
              <a:solidFill>
                <a:srgbClr val="c0504d"/>
              </a:solidFill>
              <a:round/>
            </a:ln>
          </c:spPr>
          <c:marker>
            <c:symbol val="circle"/>
            <c:size val="6"/>
            <c:spPr>
              <a:solidFill>
                <a:srgbClr val="c0504d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-6</c:v>
                </c:pt>
                <c:pt idx="1">
                  <c:v>-4</c:v>
                </c:pt>
                <c:pt idx="2">
                  <c:v>-2</c:v>
                </c:pt>
                <c:pt idx="3">
                  <c:v>0</c:v>
                </c:pt>
                <c:pt idx="4">
                  <c:v>2</c:v>
                </c:pt>
                <c:pt idx="5">
                  <c:v>4</c:v>
                </c:pt>
                <c:pt idx="6">
                  <c:v>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0</c:v>
                </c:pt>
                <c:pt idx="1">
                  <c:v>0.02</c:v>
                </c:pt>
                <c:pt idx="2">
                  <c:v>0.12</c:v>
                </c:pt>
                <c:pt idx="3">
                  <c:v>0.5</c:v>
                </c:pt>
                <c:pt idx="4">
                  <c:v>0.88</c:v>
                </c:pt>
                <c:pt idx="5">
                  <c:v>0.98</c:v>
                </c:pt>
                <c:pt idx="6">
                  <c:v>1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38710368"/>
        <c:axId val="6144730"/>
      </c:lineChart>
      <c:catAx>
        <c:axId val="38710368"/>
        <c:scaling>
          <c:orientation val="minMax"/>
        </c:scaling>
        <c:delete val="0"/>
        <c:axPos val="b"/>
        <c:majorGridlines>
          <c:spPr>
            <a:ln w="12600">
              <a:solidFill>
                <a:srgbClr val="f2f4f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Noto Sans CJK KR"/>
              </a:defRPr>
            </a:pPr>
          </a:p>
        </c:txPr>
        <c:crossAx val="6144730"/>
        <c:crosses val="autoZero"/>
        <c:auto val="1"/>
        <c:lblAlgn val="ctr"/>
        <c:lblOffset val="100"/>
        <c:noMultiLvlLbl val="0"/>
      </c:catAx>
      <c:valAx>
        <c:axId val="6144730"/>
        <c:scaling>
          <c:orientation val="minMax"/>
          <c:max val="1"/>
          <c:min val="0"/>
        </c:scaling>
        <c:delete val="0"/>
        <c:axPos val="l"/>
        <c:majorGridlines>
          <c:spPr>
            <a:ln w="12600">
              <a:solidFill>
                <a:srgbClr val="e4e7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Noto Sans CJK KR"/>
              </a:defRPr>
            </a:pPr>
          </a:p>
        </c:txPr>
        <c:crossAx val="38710368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span"/>
  </c:chart>
  <c:spPr>
    <a:noFill/>
    <a:ln w="936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점수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0.02</c:v>
                </c:pt>
                <c:pt idx="1">
                  <c:v>0.03</c:v>
                </c:pt>
                <c:pt idx="2">
                  <c:v>0.04</c:v>
                </c:pt>
                <c:pt idx="3">
                  <c:v>0.02</c:v>
                </c:pt>
                <c:pt idx="4">
                  <c:v>0.03</c:v>
                </c:pt>
                <c:pt idx="5">
                  <c:v>0.78</c:v>
                </c:pt>
                <c:pt idx="6">
                  <c:v>0.03</c:v>
                </c:pt>
                <c:pt idx="7">
                  <c:v>0.025</c:v>
                </c:pt>
                <c:pt idx="8">
                  <c:v>0.04</c:v>
                </c:pt>
                <c:pt idx="9">
                  <c:v>0.01</c:v>
                </c:pt>
              </c:numCache>
            </c:numRef>
          </c:val>
        </c:ser>
        <c:gapWidth val="150"/>
        <c:overlap val="0"/>
        <c:axId val="59035300"/>
        <c:axId val="94417425"/>
      </c:barChart>
      <c:catAx>
        <c:axId val="590353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Noto Sans CJK KR"/>
              </a:defRPr>
            </a:pPr>
          </a:p>
        </c:txPr>
        <c:crossAx val="94417425"/>
        <c:crosses val="autoZero"/>
        <c:auto val="1"/>
        <c:lblAlgn val="ctr"/>
        <c:lblOffset val="100"/>
        <c:noMultiLvlLbl val="0"/>
      </c:catAx>
      <c:valAx>
        <c:axId val="94417425"/>
        <c:scaling>
          <c:orientation val="minMax"/>
          <c:max val="1"/>
          <c:min val="0"/>
        </c:scaling>
        <c:delete val="0"/>
        <c:axPos val="l"/>
        <c:majorGridlines>
          <c:spPr>
            <a:ln w="12600">
              <a:solidFill>
                <a:srgbClr val="e4e7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Noto Sans CJK KR"/>
              </a:defRPr>
            </a:pPr>
          </a:p>
        </c:txPr>
        <c:crossAx val="59035300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span"/>
  </c:chart>
  <c:spPr>
    <a:noFill/>
    <a:ln w="936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손실</c:v>
                </c:pt>
              </c:strCache>
            </c:strRef>
          </c:tx>
          <c:spPr>
            <a:solidFill>
              <a:srgbClr val="c0504d"/>
            </a:solidFill>
            <a:ln w="38160">
              <a:solidFill>
                <a:srgbClr val="c0504d"/>
              </a:solidFill>
              <a:round/>
            </a:ln>
          </c:spPr>
          <c:marker>
            <c:symbol val="circle"/>
            <c:size val="6"/>
            <c:spPr>
              <a:solidFill>
                <a:srgbClr val="c0504d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3.2</c:v>
                </c:pt>
                <c:pt idx="1">
                  <c:v>2.2</c:v>
                </c:pt>
                <c:pt idx="2">
                  <c:v>1.4</c:v>
                </c:pt>
                <c:pt idx="3">
                  <c:v>0.85</c:v>
                </c:pt>
                <c:pt idx="4">
                  <c:v>0.48</c:v>
                </c:pt>
                <c:pt idx="5">
                  <c:v>0.33</c:v>
                </c:pt>
                <c:pt idx="6">
                  <c:v>0.25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52720508"/>
        <c:axId val="2702934"/>
      </c:lineChart>
      <c:catAx>
        <c:axId val="527205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Noto Sans CJK KR"/>
              </a:defRPr>
            </a:pPr>
          </a:p>
        </c:txPr>
        <c:crossAx val="2702934"/>
        <c:crosses val="autoZero"/>
        <c:auto val="1"/>
        <c:lblAlgn val="ctr"/>
        <c:lblOffset val="100"/>
        <c:noMultiLvlLbl val="0"/>
      </c:catAx>
      <c:valAx>
        <c:axId val="2702934"/>
        <c:scaling>
          <c:orientation val="minMax"/>
        </c:scaling>
        <c:delete val="0"/>
        <c:axPos val="l"/>
        <c:majorGridlines>
          <c:spPr>
            <a:ln w="12600">
              <a:solidFill>
                <a:srgbClr val="e4e7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Noto Sans CJK KR"/>
              </a:defRPr>
            </a:pPr>
          </a:p>
        </c:txPr>
        <c:crossAx val="5272050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936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슬라이드를 이동하려면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ko-KR" sz="2000" spc="-1" strike="noStrike">
                <a:latin typeface="Noto Sans CJK KR"/>
              </a:rPr>
              <a:t>메모 서식을 편집하려면 클릭하십시오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Noto Serif CJK KR"/>
              </a:rPr>
              <a:t>&lt;머리글&gt;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Noto Serif CJK KR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Noto Serif CJK KR"/>
              </a:rPr>
              <a:t>&lt;날짜/시간&gt;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Noto Serif CJK KR"/>
              </a:defRPr>
            </a:lvl1pPr>
          </a:lstStyle>
          <a:p>
            <a:r>
              <a:rPr b="0" lang="en-US" sz="1400" spc="-1" strike="noStrike">
                <a:latin typeface="Noto Serif CJK KR"/>
              </a:rPr>
              <a:t>&lt;바닥글&gt;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Noto Serif CJK KR"/>
              </a:defRPr>
            </a:lvl1pPr>
          </a:lstStyle>
          <a:p>
            <a:pPr algn="r">
              <a:buNone/>
            </a:pPr>
            <a:fld id="{2E77ECE9-4D3F-4536-8DA1-CA0159D34DAF}" type="slidenum">
              <a:rPr b="0" lang="en-US" sz="1400" spc="-1" strike="noStrike">
                <a:latin typeface="Noto Serif CJK KR"/>
              </a:rPr>
              <a:t>&lt;숫자&gt;</a:t>
            </a:fld>
            <a:endParaRPr b="0" lang="en-US" sz="1400" spc="-1" strike="noStrike"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첫 장에서는 전체 흐름만 말한다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코드를 외우는 수업이 아니라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각 단어가 무슨 역할을 하는지 이해하는 수업이라고 설명한다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734D379-7410-4ABD-AD03-FCD9F9304EF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학생들에게 먼저 질문한다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컴퓨터는 사진을 눈으로 보는 것이 아니라 숫자로 계산한다고 예고한다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516CA7-7158-4691-B8E3-68B7E509700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딥러닝을 암기가 아니라 반복 학습으로 설명한다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학생이 시험 문제를 풀고 오답노트를 만드는 과정과 연결한다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712E3D-680F-4A2E-898F-23752B5EEC7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Noto Sans CJK KR"/>
              </a:rPr>
              <a:t>28 </a:t>
            </a:r>
            <a:r>
              <a:rPr b="0" lang="ko-KR" sz="2000" spc="-1" strike="noStrike">
                <a:latin typeface="Noto Sans CJK KR"/>
              </a:rPr>
              <a:t>곱하기 </a:t>
            </a:r>
            <a:r>
              <a:rPr b="0" lang="en-US" sz="2000" spc="-1" strike="noStrike">
                <a:latin typeface="Noto Sans CJK KR"/>
              </a:rPr>
              <a:t>28</a:t>
            </a:r>
            <a:r>
              <a:rPr b="0" lang="ko-KR" sz="2000" spc="-1" strike="noStrike">
                <a:latin typeface="Noto Sans CJK KR"/>
              </a:rPr>
              <a:t>은 </a:t>
            </a:r>
            <a:r>
              <a:rPr b="0" lang="en-US" sz="2000" spc="-1" strike="noStrike">
                <a:latin typeface="Noto Sans CJK KR"/>
              </a:rPr>
              <a:t>784</a:t>
            </a:r>
            <a:r>
              <a:rPr b="0" lang="ko-KR" sz="2000" spc="-1" strike="noStrike">
                <a:latin typeface="Noto Sans CJK KR"/>
              </a:rPr>
              <a:t>라는 점만 강조한다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그림을 숫자 줄로 바꿔야 모델이 계산할 수 있다고 설명한다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D09E01-9F85-4D57-9057-DA6AAE373C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노트북 파일의 순서를 </a:t>
            </a:r>
            <a:r>
              <a:rPr b="0" lang="en-US" sz="2000" spc="-1" strike="noStrike">
                <a:latin typeface="Noto Sans CJK KR"/>
              </a:rPr>
              <a:t>PPT </a:t>
            </a:r>
            <a:r>
              <a:rPr b="0" lang="ko-KR" sz="2000" spc="-1" strike="noStrike">
                <a:latin typeface="Noto Sans CJK KR"/>
              </a:rPr>
              <a:t>개념과 연결한다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학생들에게 코드를 한 줄씩 외우라고 하지 말고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준비</a:t>
            </a:r>
            <a:r>
              <a:rPr b="0" lang="en-US" sz="2000" spc="-1" strike="noStrike">
                <a:latin typeface="Noto Sans CJK KR"/>
              </a:rPr>
              <a:t>-</a:t>
            </a:r>
            <a:r>
              <a:rPr b="0" lang="ko-KR" sz="2000" spc="-1" strike="noStrike">
                <a:latin typeface="Noto Sans CJK KR"/>
              </a:rPr>
              <a:t>데이터</a:t>
            </a:r>
            <a:r>
              <a:rPr b="0" lang="en-US" sz="2000" spc="-1" strike="noStrike">
                <a:latin typeface="Noto Sans CJK KR"/>
              </a:rPr>
              <a:t>-</a:t>
            </a:r>
            <a:r>
              <a:rPr b="0" lang="ko-KR" sz="2000" spc="-1" strike="noStrike">
                <a:latin typeface="Noto Sans CJK KR"/>
              </a:rPr>
              <a:t>모델</a:t>
            </a:r>
            <a:r>
              <a:rPr b="0" lang="en-US" sz="2000" spc="-1" strike="noStrike">
                <a:latin typeface="Noto Sans CJK KR"/>
              </a:rPr>
              <a:t>-</a:t>
            </a:r>
            <a:r>
              <a:rPr b="0" lang="ko-KR" sz="2000" spc="-1" strike="noStrike">
                <a:latin typeface="Noto Sans CJK KR"/>
              </a:rPr>
              <a:t>학습</a:t>
            </a:r>
            <a:r>
              <a:rPr b="0" lang="en-US" sz="2000" spc="-1" strike="noStrike">
                <a:latin typeface="Noto Sans CJK KR"/>
              </a:rPr>
              <a:t>-</a:t>
            </a:r>
            <a:r>
              <a:rPr b="0" lang="ko-KR" sz="2000" spc="-1" strike="noStrike">
                <a:latin typeface="Noto Sans CJK KR"/>
              </a:rPr>
              <a:t>검증 흐름으로 보게 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97A73D-5139-4B2F-8BF2-F987391199A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Noto Sans CJK KR"/>
              </a:rPr>
              <a:t>DataLoader</a:t>
            </a:r>
            <a:r>
              <a:rPr b="0" lang="ko-KR" sz="2000" spc="-1" strike="noStrike">
                <a:latin typeface="Noto Sans CJK KR"/>
              </a:rPr>
              <a:t>는 학생에게 문제집을 묶음으로 나눠주는 역할이라고 설명한다</a:t>
            </a:r>
            <a:r>
              <a:rPr b="0" lang="en-US" sz="2000" spc="-1" strike="noStrike">
                <a:latin typeface="Noto Sans CJK KR"/>
              </a:rPr>
              <a:t>. X_train</a:t>
            </a:r>
            <a:r>
              <a:rPr b="0" lang="ko-KR" sz="2000" spc="-1" strike="noStrike">
                <a:latin typeface="Noto Sans CJK KR"/>
              </a:rPr>
              <a:t>의 모양은 </a:t>
            </a:r>
            <a:r>
              <a:rPr b="0" lang="en-US" sz="2000" spc="-1" strike="noStrike">
                <a:latin typeface="Noto Sans CJK KR"/>
              </a:rPr>
              <a:t>32</a:t>
            </a:r>
            <a:r>
              <a:rPr b="0" lang="ko-KR" sz="2000" spc="-1" strike="noStrike">
                <a:latin typeface="Noto Sans CJK KR"/>
              </a:rPr>
              <a:t>장의 </a:t>
            </a:r>
            <a:r>
              <a:rPr b="0" lang="en-US" sz="2000" spc="-1" strike="noStrike">
                <a:latin typeface="Noto Sans CJK KR"/>
              </a:rPr>
              <a:t>28x28 </a:t>
            </a:r>
            <a:r>
              <a:rPr b="0" lang="ko-KR" sz="2000" spc="-1" strike="noStrike">
                <a:latin typeface="Noto Sans CJK KR"/>
              </a:rPr>
              <a:t>흑백 이미지라는 정도만 말한다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F121FC-1134-4C9A-AEC4-F6EA606C828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Noto Sans CJK KR"/>
              </a:rPr>
              <a:t>Linear</a:t>
            </a:r>
            <a:r>
              <a:rPr b="0" lang="ko-KR" sz="2000" spc="-1" strike="noStrike">
                <a:latin typeface="Noto Sans CJK KR"/>
              </a:rPr>
              <a:t>는 어려운 수식 대신 재료를 섞어 새 점수를 만드는 계산이라고 말한다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가중치는 중요도라는 말로 바꾼다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BD6507-6919-4AC6-B744-DDEDA62E891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Noto Sans CJK KR"/>
              </a:rPr>
              <a:t>sigmoid </a:t>
            </a:r>
            <a:r>
              <a:rPr b="0" lang="ko-KR" sz="2000" spc="-1" strike="noStrike">
                <a:latin typeface="Noto Sans CJK KR"/>
              </a:rPr>
              <a:t>그래프는 왼쪽은 </a:t>
            </a:r>
            <a:r>
              <a:rPr b="0" lang="en-US" sz="2000" spc="-1" strike="noStrike">
                <a:latin typeface="Noto Sans CJK KR"/>
              </a:rPr>
              <a:t>0, </a:t>
            </a:r>
            <a:r>
              <a:rPr b="0" lang="ko-KR" sz="2000" spc="-1" strike="noStrike">
                <a:latin typeface="Noto Sans CJK KR"/>
              </a:rPr>
              <a:t>오른쪽은 </a:t>
            </a:r>
            <a:r>
              <a:rPr b="0" lang="en-US" sz="2000" spc="-1" strike="noStrike">
                <a:latin typeface="Noto Sans CJK KR"/>
              </a:rPr>
              <a:t>1</a:t>
            </a:r>
            <a:r>
              <a:rPr b="0" lang="ko-KR" sz="2000" spc="-1" strike="noStrike">
                <a:latin typeface="Noto Sans CJK KR"/>
              </a:rPr>
              <a:t>에 가까워진다는 정도만 설명한다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함수 계산식은 말하지 않는다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0CF1BF-EAE3-40BC-8F1E-61625CB0CBD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Noto Sans CJK KR"/>
              </a:rPr>
              <a:t>log_softmax</a:t>
            </a:r>
            <a:r>
              <a:rPr b="0" lang="ko-KR" sz="2000" spc="-1" strike="noStrike">
                <a:latin typeface="Noto Sans CJK KR"/>
              </a:rPr>
              <a:t>는 정확히는 로그 확률이라고 설명한다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중학생에게는 비교하기 좋은 점수라고 말하면 충분하다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FC9D22-22AC-43D3-A3E7-1275FA00AD4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Noto Sans CJK KR"/>
              </a:rPr>
              <a:t>Net </a:t>
            </a:r>
            <a:r>
              <a:rPr b="0" lang="ko-KR" sz="2000" spc="-1" strike="noStrike">
                <a:latin typeface="Noto Sans CJK KR"/>
              </a:rPr>
              <a:t>클래스의 코드를 실제 수업용 언어로 연결한다</a:t>
            </a:r>
            <a:r>
              <a:rPr b="0" lang="en-US" sz="2000" spc="-1" strike="noStrike">
                <a:latin typeface="Noto Sans CJK KR"/>
              </a:rPr>
              <a:t>. fc1, fc2, fc3</a:t>
            </a:r>
            <a:r>
              <a:rPr b="0" lang="ko-KR" sz="2000" spc="-1" strike="noStrike">
                <a:latin typeface="Noto Sans CJK KR"/>
              </a:rPr>
              <a:t>를 단서 점수를 만드는 계산 단계로 설명한다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F3B317-D598-4E42-8D9E-2FD2549C494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Noto Sans CJK KR"/>
              </a:rPr>
              <a:t>Loss</a:t>
            </a:r>
            <a:r>
              <a:rPr b="0" lang="ko-KR" sz="2000" spc="-1" strike="noStrike">
                <a:latin typeface="Noto Sans CJK KR"/>
              </a:rPr>
              <a:t>는 벌점이라고 설명한다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정답인데 자신감이 낮은 경우도 손실이 커질 수 있다고 간단히 덧붙인다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053BB7-620F-467D-9883-9B02A58695D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Noto Sans CJK KR"/>
              </a:rPr>
              <a:t>SGD</a:t>
            </a:r>
            <a:r>
              <a:rPr b="0" lang="ko-KR" sz="2000" spc="-1" strike="noStrike">
                <a:latin typeface="Noto Sans CJK KR"/>
              </a:rPr>
              <a:t>는 오답노트 작성 후 조금씩 공부 방법을 바꾸는 것과 비슷하다고 설명한다</a:t>
            </a:r>
            <a:r>
              <a:rPr b="0" lang="en-US" sz="2000" spc="-1" strike="noStrike">
                <a:latin typeface="Noto Sans CJK KR"/>
              </a:rPr>
              <a:t>. learning rate</a:t>
            </a:r>
            <a:r>
              <a:rPr b="0" lang="ko-KR" sz="2000" spc="-1" strike="noStrike">
                <a:latin typeface="Noto Sans CJK KR"/>
              </a:rPr>
              <a:t>가 너무 크면 휙휙 지나갈 수 있음을 말한다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54C265-381A-4124-84E1-DBF5453EB0E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학습 반복 과정을 전체적으로 다시 정리한다</a:t>
            </a:r>
            <a:r>
              <a:rPr b="0" lang="en-US" sz="2000" spc="-1" strike="noStrike">
                <a:latin typeface="Noto Sans CJK KR"/>
              </a:rPr>
              <a:t>. Backward</a:t>
            </a:r>
            <a:r>
              <a:rPr b="0" lang="ko-KR" sz="2000" spc="-1" strike="noStrike">
                <a:latin typeface="Noto Sans CJK KR"/>
              </a:rPr>
              <a:t>는 어디를 얼마나 고칠지 찾아주는 계산이라고 말한다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08A43D-0739-4964-A204-1EAF1E0C096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Noto Sans CJK KR"/>
              </a:rPr>
              <a:t>ipynb</a:t>
            </a:r>
            <a:r>
              <a:rPr b="0" lang="ko-KR" sz="2000" spc="-1" strike="noStrike">
                <a:latin typeface="Noto Sans CJK KR"/>
              </a:rPr>
              <a:t>의 마지막 검증</a:t>
            </a:r>
            <a:r>
              <a:rPr b="0" lang="en-US" sz="2000" spc="-1" strike="noStrike">
                <a:latin typeface="Noto Sans CJK KR"/>
              </a:rPr>
              <a:t>, confusion matrix, Pred/True </a:t>
            </a:r>
            <a:r>
              <a:rPr b="0" lang="ko-KR" sz="2000" spc="-1" strike="noStrike">
                <a:latin typeface="Noto Sans CJK KR"/>
              </a:rPr>
              <a:t>시각화 내용을 한 장으로 연결한다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평가를 시험 문제 풀기와 비교한다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550513-B6FC-48EA-8911-F250F5DB72B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정답은 </a:t>
            </a:r>
            <a:r>
              <a:rPr b="0" lang="en-US" sz="2000" spc="-1" strike="noStrike">
                <a:latin typeface="Noto Sans CJK KR"/>
              </a:rPr>
              <a:t>8</a:t>
            </a:r>
            <a:r>
              <a:rPr b="0" lang="ko-KR" sz="2000" spc="-1" strike="noStrike">
                <a:latin typeface="Noto Sans CJK KR"/>
              </a:rPr>
              <a:t>이다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정답이 </a:t>
            </a:r>
            <a:r>
              <a:rPr b="0" lang="en-US" sz="2000" spc="-1" strike="noStrike">
                <a:latin typeface="Noto Sans CJK KR"/>
              </a:rPr>
              <a:t>8</a:t>
            </a:r>
            <a:r>
              <a:rPr b="0" lang="ko-KR" sz="2000" spc="-1" strike="noStrike">
                <a:latin typeface="Noto Sans CJK KR"/>
              </a:rPr>
              <a:t>이면 손실은 작고</a:t>
            </a:r>
            <a:r>
              <a:rPr b="0" lang="en-US" sz="2000" spc="-1" strike="noStrike">
                <a:latin typeface="Noto Sans CJK KR"/>
              </a:rPr>
              <a:t>, </a:t>
            </a:r>
            <a:r>
              <a:rPr b="0" lang="ko-KR" sz="2000" spc="-1" strike="noStrike">
                <a:latin typeface="Noto Sans CJK KR"/>
              </a:rPr>
              <a:t>정답이 </a:t>
            </a:r>
            <a:r>
              <a:rPr b="0" lang="en-US" sz="2000" spc="-1" strike="noStrike">
                <a:latin typeface="Noto Sans CJK KR"/>
              </a:rPr>
              <a:t>3</a:t>
            </a:r>
            <a:r>
              <a:rPr b="0" lang="ko-KR" sz="2000" spc="-1" strike="noStrike">
                <a:latin typeface="Noto Sans CJK KR"/>
              </a:rPr>
              <a:t>이면 손실은 크다고 설명한다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85B075-D11F-4B04-9D3A-1914FB67669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ko-KR" sz="2000" spc="-1" strike="noStrike">
                <a:latin typeface="Noto Sans CJK KR"/>
              </a:rPr>
              <a:t>마지막 장은 전체 복습이다</a:t>
            </a:r>
            <a:r>
              <a:rPr b="0" lang="en-US" sz="2000" spc="-1" strike="noStrike">
                <a:latin typeface="Noto Sans CJK KR"/>
              </a:rPr>
              <a:t>. </a:t>
            </a:r>
            <a:r>
              <a:rPr b="0" lang="ko-KR" sz="2000" spc="-1" strike="noStrike">
                <a:latin typeface="Noto Sans CJK KR"/>
              </a:rPr>
              <a:t>용어 하나씩 학생에게 뜻을 말하게 하며 마무리한다</a:t>
            </a:r>
            <a:r>
              <a:rPr b="0" lang="en-US" sz="2000" spc="-1" strike="noStrike">
                <a:latin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7D2855-5D02-4896-9F3B-0B2AC06F52A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latin typeface="Noto Serif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oto Sans CJK KR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딥러닝 핵심 개념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45" name="Text 1"/>
          <p:cNvSpPr/>
          <p:nvPr/>
        </p:nvSpPr>
        <p:spPr>
          <a:xfrm>
            <a:off x="640080" y="896040"/>
            <a:ext cx="7589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4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딥러닝 핵심 개념</a:t>
            </a:r>
            <a:endParaRPr b="0" lang="en-US" sz="4100" spc="-1" strike="noStrike">
              <a:latin typeface="Noto Sans CJK KR"/>
            </a:endParaRPr>
          </a:p>
        </p:txBody>
      </p:sp>
      <p:sp>
        <p:nvSpPr>
          <p:cNvPr id="46" name="Text 2"/>
          <p:cNvSpPr/>
          <p:nvPr/>
        </p:nvSpPr>
        <p:spPr>
          <a:xfrm>
            <a:off x="658440" y="1737360"/>
            <a:ext cx="7863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MNIST </a:t>
            </a:r>
            <a:r>
              <a:rPr b="0" lang="ko-KR" sz="17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숫자 인식 코드에 나오는 단어를 쉬운 말로 이해하기</a:t>
            </a:r>
            <a:endParaRPr b="0" lang="en-US" sz="1700" spc="-1" strike="noStrike">
              <a:latin typeface="Noto Sans CJK KR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3337560" y="3373920"/>
            <a:ext cx="91440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6172200" y="3373920"/>
            <a:ext cx="91440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8961120" y="3373920"/>
            <a:ext cx="86868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Shape 6"/>
          <p:cNvSpPr/>
          <p:nvPr/>
        </p:nvSpPr>
        <p:spPr>
          <a:xfrm>
            <a:off x="777240" y="2880360"/>
            <a:ext cx="2559960" cy="105120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914400" y="304488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손글씨 그림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52" name="Text 8"/>
          <p:cNvSpPr/>
          <p:nvPr/>
        </p:nvSpPr>
        <p:spPr>
          <a:xfrm>
            <a:off x="941760" y="3410640"/>
            <a:ext cx="2230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흑백 숫자 사진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4251960" y="2880360"/>
            <a:ext cx="1919880" cy="1051200"/>
          </a:xfrm>
          <a:prstGeom prst="roundRect">
            <a:avLst>
              <a:gd name="adj" fmla="val 6957"/>
            </a:avLst>
          </a:prstGeom>
          <a:solidFill>
            <a:srgbClr val="dff4ea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4389120" y="304488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AI 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모델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4416480" y="3410640"/>
            <a:ext cx="1590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단서를 찾아 점수 계산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7086600" y="2880360"/>
            <a:ext cx="1874160" cy="1051200"/>
          </a:xfrm>
          <a:prstGeom prst="roundRect">
            <a:avLst>
              <a:gd name="adj" fmla="val 6957"/>
            </a:avLst>
          </a:prstGeom>
          <a:solidFill>
            <a:srgbClr val="fff3d6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3"/>
          <p:cNvSpPr/>
          <p:nvPr/>
        </p:nvSpPr>
        <p:spPr>
          <a:xfrm>
            <a:off x="7223760" y="304488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점수 비교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7251120" y="3410640"/>
            <a:ext cx="1545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0~9 </a:t>
            </a: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중 가장 높은 숫자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9829800" y="2880360"/>
            <a:ext cx="1645560" cy="1051200"/>
          </a:xfrm>
          <a:prstGeom prst="roundRect">
            <a:avLst>
              <a:gd name="adj" fmla="val 6957"/>
            </a:avLst>
          </a:prstGeom>
          <a:solidFill>
            <a:srgbClr val="fde7ec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16"/>
          <p:cNvSpPr/>
          <p:nvPr/>
        </p:nvSpPr>
        <p:spPr>
          <a:xfrm>
            <a:off x="9966960" y="30448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정답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9994320" y="3410640"/>
            <a:ext cx="1316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예</a:t>
            </a: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: </a:t>
            </a: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숫자 </a:t>
            </a: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5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1965960" y="5074920"/>
            <a:ext cx="8229240" cy="68544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9"/>
          <p:cNvSpPr/>
          <p:nvPr/>
        </p:nvSpPr>
        <p:spPr>
          <a:xfrm>
            <a:off x="2194560" y="5221080"/>
            <a:ext cx="77720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오늘 목표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: 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어려운 영어 이름보다 “역할”을 먼저 기억하기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01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수업 길잡이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66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오늘 수업 흐름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67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처음부터 수식으로 들어가지 않고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숫자 맞히기 게임처럼 봅니다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2514600" y="3337560"/>
            <a:ext cx="73152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Shape 4"/>
          <p:cNvSpPr/>
          <p:nvPr/>
        </p:nvSpPr>
        <p:spPr>
          <a:xfrm>
            <a:off x="4983480" y="3337560"/>
            <a:ext cx="73152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Shape 5"/>
          <p:cNvSpPr/>
          <p:nvPr/>
        </p:nvSpPr>
        <p:spPr>
          <a:xfrm>
            <a:off x="7452360" y="3337560"/>
            <a:ext cx="73152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6"/>
          <p:cNvSpPr/>
          <p:nvPr/>
        </p:nvSpPr>
        <p:spPr>
          <a:xfrm>
            <a:off x="914400" y="2743200"/>
            <a:ext cx="1599840" cy="1188360"/>
          </a:xfrm>
          <a:prstGeom prst="roundRect">
            <a:avLst>
              <a:gd name="adj" fmla="val 6154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7"/>
          <p:cNvSpPr/>
          <p:nvPr/>
        </p:nvSpPr>
        <p:spPr>
          <a:xfrm>
            <a:off x="1051560" y="290772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1. </a:t>
            </a:r>
            <a:r>
              <a:rPr b="1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그림 보기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73" name="Text 8"/>
          <p:cNvSpPr/>
          <p:nvPr/>
        </p:nvSpPr>
        <p:spPr>
          <a:xfrm>
            <a:off x="1078920" y="3273480"/>
            <a:ext cx="1270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28×28 </a:t>
            </a: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흑백 사진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3383280" y="2743200"/>
            <a:ext cx="1599840" cy="1188360"/>
          </a:xfrm>
          <a:prstGeom prst="roundRect">
            <a:avLst>
              <a:gd name="adj" fmla="val 6154"/>
            </a:avLst>
          </a:prstGeom>
          <a:solidFill>
            <a:srgbClr val="fff3d6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0"/>
          <p:cNvSpPr/>
          <p:nvPr/>
        </p:nvSpPr>
        <p:spPr>
          <a:xfrm>
            <a:off x="3520440" y="290772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2. </a:t>
            </a:r>
            <a:r>
              <a:rPr b="1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숫자로 바꾸기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3547800" y="3273480"/>
            <a:ext cx="1270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밝기값 </a:t>
            </a: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784</a:t>
            </a: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개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77" name="Shape 12"/>
          <p:cNvSpPr/>
          <p:nvPr/>
        </p:nvSpPr>
        <p:spPr>
          <a:xfrm>
            <a:off x="5852160" y="2743200"/>
            <a:ext cx="1599840" cy="1188360"/>
          </a:xfrm>
          <a:prstGeom prst="roundRect">
            <a:avLst>
              <a:gd name="adj" fmla="val 6154"/>
            </a:avLst>
          </a:prstGeom>
          <a:solidFill>
            <a:srgbClr val="dff4ea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3"/>
          <p:cNvSpPr/>
          <p:nvPr/>
        </p:nvSpPr>
        <p:spPr>
          <a:xfrm>
            <a:off x="5989320" y="290772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3. </a:t>
            </a:r>
            <a:r>
              <a:rPr b="1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점수 계산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6016680" y="3273480"/>
            <a:ext cx="1270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Linear, sigmoid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80" name="Shape 15"/>
          <p:cNvSpPr/>
          <p:nvPr/>
        </p:nvSpPr>
        <p:spPr>
          <a:xfrm>
            <a:off x="8321040" y="2743200"/>
            <a:ext cx="1599840" cy="1188360"/>
          </a:xfrm>
          <a:prstGeom prst="roundRect">
            <a:avLst>
              <a:gd name="adj" fmla="val 6154"/>
            </a:avLst>
          </a:prstGeom>
          <a:solidFill>
            <a:srgbClr val="fde7ec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16"/>
          <p:cNvSpPr/>
          <p:nvPr/>
        </p:nvSpPr>
        <p:spPr>
          <a:xfrm>
            <a:off x="8458200" y="2907720"/>
            <a:ext cx="1325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4. </a:t>
            </a:r>
            <a:r>
              <a:rPr b="1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틀리면 고치기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8485560" y="3273480"/>
            <a:ext cx="1270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Loss, SGD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83" name="Text 18"/>
          <p:cNvSpPr/>
          <p:nvPr/>
        </p:nvSpPr>
        <p:spPr>
          <a:xfrm>
            <a:off x="1005840" y="507492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핵심 질문</a:t>
            </a:r>
            <a:r>
              <a:rPr b="1" lang="en-US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: “AI</a:t>
            </a:r>
            <a:r>
              <a:rPr b="1" lang="ko-KR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가 그림을 본다”는 말은 실제로 무엇을 계산한다는 뜻일까요</a:t>
            </a:r>
            <a:r>
              <a:rPr b="1" lang="en-US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?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02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Deep Learning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86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Deep Learning</a:t>
            </a: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이 뭐예요</a:t>
            </a: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?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87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많은 예시를 보면서 스스로 규칙을 조금씩 찾아가는 방법입니다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777240" y="1874520"/>
            <a:ext cx="4571640" cy="73116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4"/>
          <p:cNvSpPr/>
          <p:nvPr/>
        </p:nvSpPr>
        <p:spPr>
          <a:xfrm>
            <a:off x="1005840" y="202068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사람이 규칙을 전부 손으로 적어주지 않습니다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90" name="Shape 5"/>
          <p:cNvSpPr/>
          <p:nvPr/>
        </p:nvSpPr>
        <p:spPr>
          <a:xfrm>
            <a:off x="777240" y="2926080"/>
            <a:ext cx="4571640" cy="959760"/>
          </a:xfrm>
          <a:prstGeom prst="roundRect">
            <a:avLst>
              <a:gd name="adj" fmla="val 6667"/>
            </a:avLst>
          </a:prstGeom>
          <a:solidFill>
            <a:srgbClr val="dff4ea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6"/>
          <p:cNvSpPr/>
          <p:nvPr/>
        </p:nvSpPr>
        <p:spPr>
          <a:xfrm>
            <a:off x="1005840" y="3072240"/>
            <a:ext cx="41144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모델이 예시를 많이 보며 “이런 모양은 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5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구나”를 배웁니다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6446520" y="1783080"/>
            <a:ext cx="4480200" cy="260568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8"/>
          <p:cNvSpPr/>
          <p:nvPr/>
        </p:nvSpPr>
        <p:spPr>
          <a:xfrm>
            <a:off x="6720840" y="20574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받아쓰기 연습과 비슷합니다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94" name="Text 9"/>
          <p:cNvSpPr/>
          <p:nvPr/>
        </p:nvSpPr>
        <p:spPr>
          <a:xfrm>
            <a:off x="6903720" y="2651760"/>
            <a:ext cx="3611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많이 틀리면 많이 고치고</a:t>
            </a:r>
            <a:r>
              <a:rPr b="0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,</a:t>
            </a:r>
            <a:endParaRPr b="0" lang="en-US" sz="18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조금 틀리면 조금 고칩니다</a:t>
            </a:r>
            <a:r>
              <a:rPr b="0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딥러닝도 이 과정을 반복합니다</a:t>
            </a:r>
            <a:r>
              <a:rPr b="0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6995160" y="4005000"/>
            <a:ext cx="3291480" cy="31968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11"/>
          <p:cNvSpPr/>
          <p:nvPr/>
        </p:nvSpPr>
        <p:spPr>
          <a:xfrm>
            <a:off x="7086600" y="4073760"/>
            <a:ext cx="3108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950" spc="-1" strike="noStrike">
                <a:solidFill>
                  <a:srgbClr val="3164e0"/>
                </a:solidFill>
                <a:latin typeface="Noto Sans CJK KR"/>
                <a:ea typeface="Noto Sans CJK KR"/>
              </a:rPr>
              <a:t>예시 → 예측 → 채점 → 수정</a:t>
            </a:r>
            <a:endParaRPr b="0" lang="en-US" sz="950" spc="-1" strike="noStrike">
              <a:latin typeface="Noto Sans CJK KR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960120" y="525780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8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중요한 말</a:t>
            </a:r>
            <a:r>
              <a:rPr b="1" lang="en-US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: </a:t>
            </a:r>
            <a:r>
              <a:rPr b="1" lang="ko-KR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딥러닝은 “정답표를 외우는 것”이 아니라</a:t>
            </a:r>
            <a:r>
              <a:rPr b="1" lang="en-US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, </a:t>
            </a:r>
            <a:r>
              <a:rPr b="1" lang="ko-KR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많은 예시 속에서 단서를 찾는 과정입니다</a:t>
            </a:r>
            <a:r>
              <a:rPr b="1" lang="en-US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2100" spc="-1" strike="noStrike">
              <a:latin typeface="Noto Sans CJK KR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03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MNIST </a:t>
            </a:r>
            <a:r>
              <a:rPr b="0" lang="ko-KR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전체 흐름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MNIST </a:t>
            </a: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모델의 전체 흐름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손글씨 이미지를 숫자 줄로 바꾸고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단서를 찾아서 답을 고릅니다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2743200" y="2971800"/>
            <a:ext cx="64008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4"/>
          <p:cNvSpPr/>
          <p:nvPr/>
        </p:nvSpPr>
        <p:spPr>
          <a:xfrm>
            <a:off x="5349240" y="2971800"/>
            <a:ext cx="64008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hape 5"/>
          <p:cNvSpPr/>
          <p:nvPr/>
        </p:nvSpPr>
        <p:spPr>
          <a:xfrm>
            <a:off x="8001000" y="2971800"/>
            <a:ext cx="64008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Shape 6"/>
          <p:cNvSpPr/>
          <p:nvPr/>
        </p:nvSpPr>
        <p:spPr>
          <a:xfrm>
            <a:off x="731520" y="2468880"/>
            <a:ext cx="2011320" cy="100548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7"/>
          <p:cNvSpPr/>
          <p:nvPr/>
        </p:nvSpPr>
        <p:spPr>
          <a:xfrm>
            <a:off x="868680" y="263340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손글씨 그림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896040" y="2999160"/>
            <a:ext cx="168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28 × 28</a:t>
            </a: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칸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108" name="Shape 9"/>
          <p:cNvSpPr/>
          <p:nvPr/>
        </p:nvSpPr>
        <p:spPr>
          <a:xfrm>
            <a:off x="3383280" y="2468880"/>
            <a:ext cx="1965600" cy="1005480"/>
          </a:xfrm>
          <a:prstGeom prst="roundRect">
            <a:avLst>
              <a:gd name="adj" fmla="val 7273"/>
            </a:avLst>
          </a:prstGeom>
          <a:solidFill>
            <a:srgbClr val="fff3d6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0"/>
          <p:cNvSpPr/>
          <p:nvPr/>
        </p:nvSpPr>
        <p:spPr>
          <a:xfrm>
            <a:off x="3520440" y="2633400"/>
            <a:ext cx="1691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숫자 줄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3547800" y="2999160"/>
            <a:ext cx="1636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784</a:t>
            </a: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개 밝기값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5989320" y="2468880"/>
            <a:ext cx="2011320" cy="1005480"/>
          </a:xfrm>
          <a:prstGeom prst="roundRect">
            <a:avLst>
              <a:gd name="adj" fmla="val 7273"/>
            </a:avLst>
          </a:prstGeom>
          <a:solidFill>
            <a:srgbClr val="dff4ea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3"/>
          <p:cNvSpPr/>
          <p:nvPr/>
        </p:nvSpPr>
        <p:spPr>
          <a:xfrm>
            <a:off x="6126480" y="263340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단서 찾기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6153840" y="2999160"/>
            <a:ext cx="168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선</a:t>
            </a: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꺾임</a:t>
            </a: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동그라미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114" name="Shape 15"/>
          <p:cNvSpPr/>
          <p:nvPr/>
        </p:nvSpPr>
        <p:spPr>
          <a:xfrm>
            <a:off x="8641080" y="2468880"/>
            <a:ext cx="2102760" cy="1005480"/>
          </a:xfrm>
          <a:prstGeom prst="roundRect">
            <a:avLst>
              <a:gd name="adj" fmla="val 7273"/>
            </a:avLst>
          </a:prstGeom>
          <a:solidFill>
            <a:srgbClr val="fde7ec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6"/>
          <p:cNvSpPr/>
          <p:nvPr/>
        </p:nvSpPr>
        <p:spPr>
          <a:xfrm>
            <a:off x="8778240" y="263340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답 고르기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8805600" y="2999160"/>
            <a:ext cx="177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0~9 </a:t>
            </a: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점수 비교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117" name="Shape 18"/>
          <p:cNvSpPr/>
          <p:nvPr/>
        </p:nvSpPr>
        <p:spPr>
          <a:xfrm>
            <a:off x="960120" y="4343400"/>
            <a:ext cx="274284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19"/>
          <p:cNvSpPr/>
          <p:nvPr/>
        </p:nvSpPr>
        <p:spPr>
          <a:xfrm>
            <a:off x="1115640" y="4690800"/>
            <a:ext cx="2422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164e0"/>
                </a:solidFill>
                <a:latin typeface="Noto Sans CJK KR"/>
                <a:ea typeface="Noto Sans CJK KR"/>
              </a:rPr>
              <a:t>0.0  0.1  0.8  0.3  …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3886200" y="4800600"/>
            <a:ext cx="1005840" cy="360"/>
          </a:xfrm>
          <a:prstGeom prst="line">
            <a:avLst/>
          </a:prstGeom>
          <a:ln w="25400">
            <a:solidFill>
              <a:srgbClr val="3164e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21"/>
          <p:cNvSpPr/>
          <p:nvPr/>
        </p:nvSpPr>
        <p:spPr>
          <a:xfrm>
            <a:off x="5074920" y="452628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6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컴퓨터 입장에서는 사진도 결국 숫자 배열입니다</a:t>
            </a:r>
            <a:r>
              <a:rPr b="1" lang="en-US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121" name="Text 22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04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ipynb </a:t>
            </a:r>
            <a:r>
              <a:rPr b="0" lang="ko-KR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연결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ipynb </a:t>
            </a: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코드는 어떤 순서로 움직일까요</a:t>
            </a: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?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노트북 전체를 외우기보다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큰 흐름만 먼저 보면 됩니다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2423160" y="2496240"/>
            <a:ext cx="64008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4"/>
          <p:cNvSpPr/>
          <p:nvPr/>
        </p:nvSpPr>
        <p:spPr>
          <a:xfrm>
            <a:off x="4892040" y="2496240"/>
            <a:ext cx="64008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5"/>
          <p:cNvSpPr/>
          <p:nvPr/>
        </p:nvSpPr>
        <p:spPr>
          <a:xfrm>
            <a:off x="7360920" y="2496240"/>
            <a:ext cx="64008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Shape 6"/>
          <p:cNvSpPr/>
          <p:nvPr/>
        </p:nvSpPr>
        <p:spPr>
          <a:xfrm>
            <a:off x="685800" y="1965960"/>
            <a:ext cx="1737000" cy="105120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7"/>
          <p:cNvSpPr/>
          <p:nvPr/>
        </p:nvSpPr>
        <p:spPr>
          <a:xfrm>
            <a:off x="822960" y="21304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1. </a:t>
            </a:r>
            <a:r>
              <a:rPr b="1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준비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130" name="Text 8"/>
          <p:cNvSpPr/>
          <p:nvPr/>
        </p:nvSpPr>
        <p:spPr>
          <a:xfrm>
            <a:off x="850320" y="2496240"/>
            <a:ext cx="140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torch, datasets</a:t>
            </a:r>
            <a:endParaRPr b="0" lang="en-US" sz="11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DEVICE </a:t>
            </a:r>
            <a:r>
              <a:rPr b="0" lang="ko-KR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설정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31" name="Shape 9"/>
          <p:cNvSpPr/>
          <p:nvPr/>
        </p:nvSpPr>
        <p:spPr>
          <a:xfrm>
            <a:off x="3063240" y="1965960"/>
            <a:ext cx="1828440" cy="1051200"/>
          </a:xfrm>
          <a:prstGeom prst="roundRect">
            <a:avLst>
              <a:gd name="adj" fmla="val 6957"/>
            </a:avLst>
          </a:prstGeom>
          <a:solidFill>
            <a:srgbClr val="fff3d6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0"/>
          <p:cNvSpPr/>
          <p:nvPr/>
        </p:nvSpPr>
        <p:spPr>
          <a:xfrm>
            <a:off x="3200400" y="2130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2. </a:t>
            </a:r>
            <a:r>
              <a:rPr b="1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데이터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3227760" y="2496240"/>
            <a:ext cx="149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MNIST </a:t>
            </a:r>
            <a:r>
              <a:rPr b="0" lang="ko-KR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불러오기</a:t>
            </a:r>
            <a:endParaRPr b="0" lang="en-US" sz="11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32</a:t>
            </a:r>
            <a:r>
              <a:rPr b="0" lang="ko-KR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장씩 묶기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34" name="Shape 12"/>
          <p:cNvSpPr/>
          <p:nvPr/>
        </p:nvSpPr>
        <p:spPr>
          <a:xfrm>
            <a:off x="5532120" y="1965960"/>
            <a:ext cx="1828440" cy="1051200"/>
          </a:xfrm>
          <a:prstGeom prst="roundRect">
            <a:avLst>
              <a:gd name="adj" fmla="val 6957"/>
            </a:avLst>
          </a:prstGeom>
          <a:solidFill>
            <a:srgbClr val="dff4ea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13"/>
          <p:cNvSpPr/>
          <p:nvPr/>
        </p:nvSpPr>
        <p:spPr>
          <a:xfrm>
            <a:off x="5669280" y="2130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3. </a:t>
            </a:r>
            <a:r>
              <a:rPr b="1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모델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5696640" y="2496240"/>
            <a:ext cx="149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Net </a:t>
            </a:r>
            <a:r>
              <a:rPr b="0" lang="ko-KR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클래스</a:t>
            </a:r>
            <a:endParaRPr b="0" lang="en-US" sz="11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fc1, fc2, fc3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8001000" y="1965960"/>
            <a:ext cx="1874160" cy="1051200"/>
          </a:xfrm>
          <a:prstGeom prst="roundRect">
            <a:avLst>
              <a:gd name="adj" fmla="val 6957"/>
            </a:avLst>
          </a:prstGeom>
          <a:solidFill>
            <a:srgbClr val="fde7ec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6"/>
          <p:cNvSpPr/>
          <p:nvPr/>
        </p:nvSpPr>
        <p:spPr>
          <a:xfrm>
            <a:off x="8138160" y="213048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4. </a:t>
            </a:r>
            <a:r>
              <a:rPr b="1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학습</a:t>
            </a:r>
            <a:r>
              <a:rPr b="1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·</a:t>
            </a:r>
            <a:r>
              <a:rPr b="1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검증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8165520" y="2496240"/>
            <a:ext cx="1545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train()</a:t>
            </a:r>
            <a:endParaRPr b="0" lang="en-US" sz="11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evaluate()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40" name="Shape 18"/>
          <p:cNvSpPr/>
          <p:nvPr/>
        </p:nvSpPr>
        <p:spPr>
          <a:xfrm>
            <a:off x="960120" y="3886200"/>
            <a:ext cx="5166000" cy="1051200"/>
          </a:xfrm>
          <a:prstGeom prst="roundRect">
            <a:avLst>
              <a:gd name="adj" fmla="val 3478"/>
            </a:avLst>
          </a:prstGeom>
          <a:solidFill>
            <a:srgbClr val="0b1220"/>
          </a:solidFill>
          <a:ln w="12700">
            <a:solidFill>
              <a:srgbClr val="1d293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19"/>
          <p:cNvSpPr/>
          <p:nvPr/>
        </p:nvSpPr>
        <p:spPr>
          <a:xfrm>
            <a:off x="1124640" y="4023360"/>
            <a:ext cx="4836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DEVICE = torch.device('cuda')  # </a:t>
            </a:r>
            <a:r>
              <a:rPr b="0" lang="ko-KR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가능하면 </a:t>
            </a:r>
            <a:r>
              <a:rPr b="0" lang="en-US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GPU </a:t>
            </a:r>
            <a:r>
              <a:rPr b="0" lang="ko-KR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사용</a:t>
            </a:r>
            <a:endParaRPr b="0" lang="en-US" sz="105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BATCH_SIZE = 32                  # </a:t>
            </a:r>
            <a:r>
              <a:rPr b="0" lang="ko-KR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한 번에 </a:t>
            </a:r>
            <a:r>
              <a:rPr b="0" lang="en-US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32</a:t>
            </a:r>
            <a:r>
              <a:rPr b="0" lang="ko-KR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장씩 보기</a:t>
            </a:r>
            <a:endParaRPr b="0" lang="en-US" sz="105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EPOCHS = 10                      # </a:t>
            </a:r>
            <a:r>
              <a:rPr b="0" lang="ko-KR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전체 데이터 </a:t>
            </a:r>
            <a:r>
              <a:rPr b="0" lang="en-US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10</a:t>
            </a:r>
            <a:r>
              <a:rPr b="0" lang="ko-KR" sz="105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번 반복</a:t>
            </a:r>
            <a:endParaRPr b="0" lang="en-US" sz="1050" spc="-1" strike="noStrike">
              <a:latin typeface="Noto Sans CJK KR"/>
            </a:endParaRPr>
          </a:p>
        </p:txBody>
      </p:sp>
      <p:sp>
        <p:nvSpPr>
          <p:cNvPr id="142" name="Shape 20"/>
          <p:cNvSpPr/>
          <p:nvPr/>
        </p:nvSpPr>
        <p:spPr>
          <a:xfrm>
            <a:off x="6446520" y="3913560"/>
            <a:ext cx="4388760" cy="98712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21"/>
          <p:cNvSpPr/>
          <p:nvPr/>
        </p:nvSpPr>
        <p:spPr>
          <a:xfrm>
            <a:off x="6675120" y="4060080"/>
            <a:ext cx="39315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수업에서는 “코드 이름”보다 “어떤 역할인지”를 먼저 설명하면 됩니다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44" name="Text 22"/>
          <p:cNvSpPr/>
          <p:nvPr/>
        </p:nvSpPr>
        <p:spPr>
          <a:xfrm>
            <a:off x="1097280" y="5650920"/>
            <a:ext cx="9966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핵심</a:t>
            </a:r>
            <a:r>
              <a:rPr b="1" lang="en-US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: ipynb</a:t>
            </a: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는 준비 → 데이터 → 모델 → 학습 → 검증 순서로 읽으면 덜 헷갈립니다</a:t>
            </a:r>
            <a:r>
              <a:rPr b="1" lang="en-US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145" name="Text 23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05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데이터 코드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MNIST </a:t>
            </a: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데이터는 코드에서 이렇게 들어옵니다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사진을 바로 보는 것이 아니라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숫자 묶음으로 바꿔서 모델에 넣습니다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822960" y="1874520"/>
            <a:ext cx="4891680" cy="2057040"/>
          </a:xfrm>
          <a:prstGeom prst="roundRect">
            <a:avLst>
              <a:gd name="adj" fmla="val 1778"/>
            </a:avLst>
          </a:prstGeom>
          <a:solidFill>
            <a:srgbClr val="0b1220"/>
          </a:solidFill>
          <a:ln w="12700">
            <a:solidFill>
              <a:srgbClr val="1d293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4"/>
          <p:cNvSpPr/>
          <p:nvPr/>
        </p:nvSpPr>
        <p:spPr>
          <a:xfrm>
            <a:off x="987480" y="2011680"/>
            <a:ext cx="45626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1. datasets.MNIST()  : </a:t>
            </a:r>
            <a:r>
              <a:rPr b="0" lang="ko-KR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숫자 사진 불러오기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2. ToTensor()        : </a:t>
            </a:r>
            <a:r>
              <a:rPr b="0" lang="ko-KR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그림을 </a:t>
            </a: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0~1 </a:t>
            </a:r>
            <a:r>
              <a:rPr b="0" lang="ko-KR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숫자로 바꾸기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3. DataLoader()      : 32</a:t>
            </a:r>
            <a:r>
              <a:rPr b="0" lang="ko-KR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장씩 묶어서 보여주기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4. X_train           : [32, 1, 28, 28]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6172200" y="1874520"/>
            <a:ext cx="1828440" cy="114264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6"/>
          <p:cNvSpPr/>
          <p:nvPr/>
        </p:nvSpPr>
        <p:spPr>
          <a:xfrm>
            <a:off x="6309360" y="203904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ToTensor()</a:t>
            </a:r>
            <a:endParaRPr b="0" lang="en-US" sz="1700" spc="-1" strike="noStrike">
              <a:latin typeface="Noto Sans CJK KR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6336720" y="2404800"/>
            <a:ext cx="1499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그림 밝기를</a:t>
            </a:r>
            <a:endParaRPr b="0" lang="en-US" sz="12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0~1 </a:t>
            </a: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숫자로 바꿈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8458200" y="1874520"/>
            <a:ext cx="2148480" cy="1142640"/>
          </a:xfrm>
          <a:prstGeom prst="roundRect">
            <a:avLst>
              <a:gd name="adj" fmla="val 6400"/>
            </a:avLst>
          </a:prstGeom>
          <a:solidFill>
            <a:srgbClr val="fff3d6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9"/>
          <p:cNvSpPr/>
          <p:nvPr/>
        </p:nvSpPr>
        <p:spPr>
          <a:xfrm>
            <a:off x="8595360" y="2039040"/>
            <a:ext cx="1874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batch_size=32</a:t>
            </a:r>
            <a:endParaRPr b="0" lang="en-US" sz="1700" spc="-1" strike="noStrike">
              <a:latin typeface="Noto Sans CJK KR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8622720" y="2404800"/>
            <a:ext cx="1819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사진 </a:t>
            </a: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32</a:t>
            </a: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장을</a:t>
            </a:r>
            <a:endParaRPr b="0" lang="en-US" sz="12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한 묶음으로 공부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157" name="Shape 11"/>
          <p:cNvSpPr/>
          <p:nvPr/>
        </p:nvSpPr>
        <p:spPr>
          <a:xfrm>
            <a:off x="6172200" y="3749040"/>
            <a:ext cx="1828440" cy="1142640"/>
          </a:xfrm>
          <a:prstGeom prst="roundRect">
            <a:avLst>
              <a:gd name="adj" fmla="val 6400"/>
            </a:avLst>
          </a:prstGeom>
          <a:solidFill>
            <a:srgbClr val="dff4ea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2"/>
          <p:cNvSpPr/>
          <p:nvPr/>
        </p:nvSpPr>
        <p:spPr>
          <a:xfrm>
            <a:off x="6309360" y="391356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shuffle=True</a:t>
            </a:r>
            <a:endParaRPr b="0" lang="en-US" sz="1700" spc="-1" strike="noStrike">
              <a:latin typeface="Noto Sans CJK KR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6336720" y="4279320"/>
            <a:ext cx="1499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문제 순서를 섞어서</a:t>
            </a:r>
            <a:endParaRPr b="0" lang="en-US" sz="12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외우기만 하지 않게 함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160" name="Shape 14"/>
          <p:cNvSpPr/>
          <p:nvPr/>
        </p:nvSpPr>
        <p:spPr>
          <a:xfrm>
            <a:off x="8458200" y="3749040"/>
            <a:ext cx="2148480" cy="1142640"/>
          </a:xfrm>
          <a:prstGeom prst="roundRect">
            <a:avLst>
              <a:gd name="adj" fmla="val 6400"/>
            </a:avLst>
          </a:prstGeom>
          <a:solidFill>
            <a:srgbClr val="fde7ec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15"/>
          <p:cNvSpPr/>
          <p:nvPr/>
        </p:nvSpPr>
        <p:spPr>
          <a:xfrm>
            <a:off x="8595360" y="3913560"/>
            <a:ext cx="1874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[32, 1, 28, 28]</a:t>
            </a:r>
            <a:endParaRPr b="0" lang="en-US" sz="1700" spc="-1" strike="noStrike">
              <a:latin typeface="Noto Sans CJK KR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8622720" y="4279320"/>
            <a:ext cx="1819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32</a:t>
            </a: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장</a:t>
            </a: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흑백 </a:t>
            </a: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1</a:t>
            </a: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채널</a:t>
            </a: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</a:t>
            </a:r>
            <a:endParaRPr b="0" lang="en-US" sz="12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28×28 </a:t>
            </a: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크기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163" name="Shape 17"/>
          <p:cNvSpPr/>
          <p:nvPr/>
        </p:nvSpPr>
        <p:spPr>
          <a:xfrm>
            <a:off x="1051560" y="5532120"/>
            <a:ext cx="9966600" cy="5940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8"/>
          <p:cNvSpPr/>
          <p:nvPr/>
        </p:nvSpPr>
        <p:spPr>
          <a:xfrm>
            <a:off x="1280160" y="5678280"/>
            <a:ext cx="95094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중학생 설명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: “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문제집을 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32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문제씩 잘라서 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AI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에게 보여준다”라고 말하면 됩니다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65" name="Text 19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06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Linear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Linear</a:t>
            </a: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는 무엇인가요</a:t>
            </a: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?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여러 숫자를 섞어서 새로운 단서 점수를 만드는 계산입니다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868680" y="1920240"/>
            <a:ext cx="2194200" cy="2102760"/>
          </a:xfrm>
          <a:prstGeom prst="roundRect">
            <a:avLst>
              <a:gd name="adj" fmla="val 3478"/>
            </a:avLst>
          </a:prstGeom>
          <a:solidFill>
            <a:srgbClr val="eaf2ff"/>
          </a:solidFill>
          <a:ln w="1524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4"/>
          <p:cNvSpPr/>
          <p:nvPr/>
        </p:nvSpPr>
        <p:spPr>
          <a:xfrm>
            <a:off x="1143000" y="214884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입력 숫자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1435680" y="26060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0.1</a:t>
            </a:r>
            <a:endParaRPr b="0" lang="en-US" sz="1500" spc="-1" strike="noStrike">
              <a:latin typeface="Noto Sans CJK KR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1435680" y="29077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0.8</a:t>
            </a:r>
            <a:endParaRPr b="0" lang="en-US" sz="1500" spc="-1" strike="noStrike">
              <a:latin typeface="Noto Sans CJK KR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1435680" y="320940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0.3</a:t>
            </a:r>
            <a:endParaRPr b="0" lang="en-US" sz="1500" spc="-1" strike="noStrike">
              <a:latin typeface="Noto Sans CJK KR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1435680" y="35114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0.0</a:t>
            </a:r>
            <a:endParaRPr b="0" lang="en-US" sz="1500" spc="-1" strike="noStrike">
              <a:latin typeface="Noto Sans CJK KR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4251960" y="2103120"/>
            <a:ext cx="2925720" cy="1325520"/>
          </a:xfrm>
          <a:prstGeom prst="roundRect">
            <a:avLst>
              <a:gd name="adj" fmla="val 5517"/>
            </a:avLst>
          </a:prstGeom>
          <a:solidFill>
            <a:srgbClr val="fff3d6"/>
          </a:solidFill>
          <a:ln w="1524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10"/>
          <p:cNvSpPr/>
          <p:nvPr/>
        </p:nvSpPr>
        <p:spPr>
          <a:xfrm>
            <a:off x="4526280" y="254196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3164e0"/>
                </a:solidFill>
                <a:latin typeface="Noto Sans CJK KR"/>
                <a:ea typeface="Noto Sans CJK KR"/>
              </a:rPr>
              <a:t>× </a:t>
            </a:r>
            <a:r>
              <a:rPr b="1" lang="ko-KR" sz="2400" spc="-1" strike="noStrike">
                <a:solidFill>
                  <a:srgbClr val="3164e0"/>
                </a:solidFill>
                <a:latin typeface="Noto Sans CJK KR"/>
                <a:ea typeface="Noto Sans CJK KR"/>
              </a:rPr>
              <a:t>중요도 </a:t>
            </a:r>
            <a:r>
              <a:rPr b="1" lang="en-US" sz="2400" spc="-1" strike="noStrike">
                <a:solidFill>
                  <a:srgbClr val="3164e0"/>
                </a:solidFill>
                <a:latin typeface="Noto Sans CJK KR"/>
                <a:ea typeface="Noto Sans CJK KR"/>
              </a:rPr>
              <a:t>+ </a:t>
            </a:r>
            <a:r>
              <a:rPr b="1" lang="ko-KR" sz="2400" spc="-1" strike="noStrike">
                <a:solidFill>
                  <a:srgbClr val="3164e0"/>
                </a:solidFill>
                <a:latin typeface="Noto Sans CJK KR"/>
                <a:ea typeface="Noto Sans CJK KR"/>
              </a:rPr>
              <a:t>더하기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8321040" y="2148840"/>
            <a:ext cx="2468520" cy="1234080"/>
          </a:xfrm>
          <a:prstGeom prst="roundRect">
            <a:avLst>
              <a:gd name="adj" fmla="val 5926"/>
            </a:avLst>
          </a:prstGeom>
          <a:solidFill>
            <a:srgbClr val="dff4ea"/>
          </a:solidFill>
          <a:ln w="1524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12"/>
          <p:cNvSpPr/>
          <p:nvPr/>
        </p:nvSpPr>
        <p:spPr>
          <a:xfrm>
            <a:off x="8549640" y="242316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특징 점수</a:t>
            </a:r>
            <a:endParaRPr b="0" lang="en-US" sz="2100" spc="-1" strike="noStrike">
              <a:latin typeface="Noto Sans CJK KR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8549640" y="281628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예</a:t>
            </a: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: </a:t>
            </a: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둥근 정도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180" name="Shape 14"/>
          <p:cNvSpPr/>
          <p:nvPr/>
        </p:nvSpPr>
        <p:spPr>
          <a:xfrm flipV="1">
            <a:off x="3154680" y="2761200"/>
            <a:ext cx="1005840" cy="14652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Shape 15"/>
          <p:cNvSpPr/>
          <p:nvPr/>
        </p:nvSpPr>
        <p:spPr>
          <a:xfrm>
            <a:off x="7269480" y="2761200"/>
            <a:ext cx="96012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Shape 16"/>
          <p:cNvSpPr/>
          <p:nvPr/>
        </p:nvSpPr>
        <p:spPr>
          <a:xfrm>
            <a:off x="1005840" y="5074920"/>
            <a:ext cx="10058040" cy="68544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7"/>
          <p:cNvSpPr/>
          <p:nvPr/>
        </p:nvSpPr>
        <p:spPr>
          <a:xfrm>
            <a:off x="1234440" y="5221080"/>
            <a:ext cx="96008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nn.Linear(784, 512)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는 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784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개의 입력 숫자를 보고 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512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개의 새 단서 점수를 만듭니다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07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sigmoid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sigmoid</a:t>
            </a: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는 무엇인가요</a:t>
            </a: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?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큰 숫자나 작은 숫자를 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0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과 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1 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사이로 부드럽게 정리합니다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graphicFrame>
        <p:nvGraphicFramePr>
          <p:cNvPr id="188" name="Chart 0"/>
          <p:cNvGraphicFramePr/>
          <p:nvPr/>
        </p:nvGraphicFramePr>
        <p:xfrm>
          <a:off x="822960" y="2057400"/>
          <a:ext cx="4754520" cy="2788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9" name="Text 3"/>
          <p:cNvSpPr/>
          <p:nvPr/>
        </p:nvSpPr>
        <p:spPr>
          <a:xfrm>
            <a:off x="6172200" y="224028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0</a:t>
            </a:r>
            <a:r>
              <a:rPr b="1" lang="ko-KR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에 가까움</a:t>
            </a:r>
            <a:endParaRPr b="0" lang="en-US" sz="21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약한 신호</a:t>
            </a:r>
            <a:endParaRPr b="0" lang="en-US" sz="2100" spc="-1" strike="noStrike">
              <a:latin typeface="Noto Sans CJK KR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8641080" y="224028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1</a:t>
            </a:r>
            <a:r>
              <a:rPr b="1" lang="ko-KR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에 가까움</a:t>
            </a:r>
            <a:endParaRPr b="0" lang="en-US" sz="21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강한 신호</a:t>
            </a:r>
            <a:endParaRPr b="0" lang="en-US" sz="2100" spc="-1" strike="noStrike">
              <a:latin typeface="Noto Sans CJK KR"/>
            </a:endParaRPr>
          </a:p>
        </p:txBody>
      </p:sp>
      <p:sp>
        <p:nvSpPr>
          <p:cNvPr id="191" name="Shape 5"/>
          <p:cNvSpPr/>
          <p:nvPr/>
        </p:nvSpPr>
        <p:spPr>
          <a:xfrm>
            <a:off x="8183880" y="2697480"/>
            <a:ext cx="365760" cy="360"/>
          </a:xfrm>
          <a:prstGeom prst="line">
            <a:avLst/>
          </a:prstGeom>
          <a:ln w="25400">
            <a:solidFill>
              <a:srgbClr val="3164e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Shape 6"/>
          <p:cNvSpPr/>
          <p:nvPr/>
        </p:nvSpPr>
        <p:spPr>
          <a:xfrm>
            <a:off x="6172200" y="3749040"/>
            <a:ext cx="4434480" cy="959760"/>
          </a:xfrm>
          <a:prstGeom prst="roundRect">
            <a:avLst>
              <a:gd name="adj" fmla="val 6667"/>
            </a:avLst>
          </a:prstGeom>
          <a:solidFill>
            <a:srgbClr val="dff4ea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7"/>
          <p:cNvSpPr/>
          <p:nvPr/>
        </p:nvSpPr>
        <p:spPr>
          <a:xfrm>
            <a:off x="6400800" y="3895200"/>
            <a:ext cx="39772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모델 중간에서 단서를 너무 거칠지 않게 부드럽게 바꾸는 역할입니다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08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log_softmax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log_softmax</a:t>
            </a: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는 무엇인가요</a:t>
            </a: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?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0~9 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점수를 비교하기 좋은 형태로 바꿔서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가장 그럴듯한 숫자를 고릅니다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graphicFrame>
        <p:nvGraphicFramePr>
          <p:cNvPr id="198" name="Chart 0"/>
          <p:cNvGraphicFramePr/>
          <p:nvPr/>
        </p:nvGraphicFramePr>
        <p:xfrm>
          <a:off x="777240" y="2057400"/>
          <a:ext cx="489168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9" name="Shape 3"/>
          <p:cNvSpPr/>
          <p:nvPr/>
        </p:nvSpPr>
        <p:spPr>
          <a:xfrm>
            <a:off x="6355080" y="1965960"/>
            <a:ext cx="4388760" cy="82260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4"/>
          <p:cNvSpPr/>
          <p:nvPr/>
        </p:nvSpPr>
        <p:spPr>
          <a:xfrm>
            <a:off x="6492240" y="21304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모델 마지막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01" name="Text 5"/>
          <p:cNvSpPr/>
          <p:nvPr/>
        </p:nvSpPr>
        <p:spPr>
          <a:xfrm>
            <a:off x="6519600" y="2496240"/>
            <a:ext cx="405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숫자 </a:t>
            </a: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0~9</a:t>
            </a: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에 대한 점수 </a:t>
            </a: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10</a:t>
            </a: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개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202" name="Shape 6"/>
          <p:cNvSpPr/>
          <p:nvPr/>
        </p:nvSpPr>
        <p:spPr>
          <a:xfrm>
            <a:off x="8549640" y="2852640"/>
            <a:ext cx="360" cy="576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7"/>
          <p:cNvSpPr/>
          <p:nvPr/>
        </p:nvSpPr>
        <p:spPr>
          <a:xfrm>
            <a:off x="6355080" y="3429000"/>
            <a:ext cx="4388760" cy="914040"/>
          </a:xfrm>
          <a:prstGeom prst="roundRect">
            <a:avLst>
              <a:gd name="adj" fmla="val 8000"/>
            </a:avLst>
          </a:prstGeom>
          <a:solidFill>
            <a:srgbClr val="dff4ea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8"/>
          <p:cNvSpPr/>
          <p:nvPr/>
        </p:nvSpPr>
        <p:spPr>
          <a:xfrm>
            <a:off x="6492240" y="359352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가장 높은 점수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05" name="Text 9"/>
          <p:cNvSpPr/>
          <p:nvPr/>
        </p:nvSpPr>
        <p:spPr>
          <a:xfrm>
            <a:off x="6519600" y="3959280"/>
            <a:ext cx="405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이 예시는 숫자 </a:t>
            </a:r>
            <a:r>
              <a:rPr b="0" lang="en-US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5</a:t>
            </a:r>
            <a:r>
              <a:rPr b="0" lang="ko-KR" sz="13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라고 예측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206" name="Shape 10"/>
          <p:cNvSpPr/>
          <p:nvPr/>
        </p:nvSpPr>
        <p:spPr>
          <a:xfrm>
            <a:off x="6172200" y="4754880"/>
            <a:ext cx="4663080" cy="822600"/>
          </a:xfrm>
          <a:prstGeom prst="roundRect">
            <a:avLst>
              <a:gd name="adj" fmla="val 7778"/>
            </a:avLst>
          </a:prstGeom>
          <a:solidFill>
            <a:srgbClr val="fff3d6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11"/>
          <p:cNvSpPr/>
          <p:nvPr/>
        </p:nvSpPr>
        <p:spPr>
          <a:xfrm>
            <a:off x="6400800" y="4901040"/>
            <a:ext cx="4205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3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주의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: log_softmax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는 확률이 아니라 “로그 점수”입니다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수업에서는 비교용 점수로 보면 충분합니다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09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모델 코드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Net </a:t>
            </a: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클래스는 실제로 무엇을 하나요</a:t>
            </a: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?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fc1, fc2, fc3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는 이름이 어렵지만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역할은 “단서 점수 만들기”입니다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777240" y="1691640"/>
            <a:ext cx="5074560" cy="3977280"/>
          </a:xfrm>
          <a:prstGeom prst="roundRect">
            <a:avLst>
              <a:gd name="adj" fmla="val 920"/>
            </a:avLst>
          </a:prstGeom>
          <a:solidFill>
            <a:srgbClr val="0b1220"/>
          </a:solidFill>
          <a:ln w="12700">
            <a:solidFill>
              <a:srgbClr val="1d293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4"/>
          <p:cNvSpPr/>
          <p:nvPr/>
        </p:nvSpPr>
        <p:spPr>
          <a:xfrm>
            <a:off x="941760" y="1828800"/>
            <a:ext cx="474552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x.view(-1, 28*28)  : </a:t>
            </a:r>
            <a:r>
              <a:rPr b="0" lang="ko-KR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그림을 한 줄로 펼치기</a:t>
            </a:r>
            <a:endParaRPr b="0" lang="en-US" sz="10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fc1: 784  -&gt; 512    : </a:t>
            </a:r>
            <a:r>
              <a:rPr b="0" lang="ko-KR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단서 점수 만들기</a:t>
            </a:r>
            <a:endParaRPr b="0" lang="en-US" sz="10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sigmoid             : </a:t>
            </a:r>
            <a:r>
              <a:rPr b="0" lang="ko-KR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단서를 부드럽게 정리</a:t>
            </a:r>
            <a:endParaRPr b="0" lang="en-US" sz="10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fc2: 512  -&gt; 256    : </a:t>
            </a:r>
            <a:r>
              <a:rPr b="0" lang="ko-KR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단서 한번 더 정리</a:t>
            </a:r>
            <a:endParaRPr b="0" lang="en-US" sz="10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sigmoid             : </a:t>
            </a:r>
            <a:r>
              <a:rPr b="0" lang="ko-KR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다시 부드럽게 정리</a:t>
            </a:r>
            <a:endParaRPr b="0" lang="en-US" sz="10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fc3: 256  -&gt; 10     : 0~9 </a:t>
            </a:r>
            <a:r>
              <a:rPr b="0" lang="ko-KR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점수 만들기</a:t>
            </a:r>
            <a:endParaRPr b="0" lang="en-US" sz="10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log_softmax         : </a:t>
            </a:r>
            <a:r>
              <a:rPr b="0" lang="ko-KR" sz="10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비교하기 좋은 점수로 바꾸기</a:t>
            </a:r>
            <a:endParaRPr b="0" lang="en-US" sz="1000" spc="-1" strike="noStrike">
              <a:latin typeface="Noto Sans CJK KR"/>
            </a:endParaRPr>
          </a:p>
        </p:txBody>
      </p:sp>
      <p:sp>
        <p:nvSpPr>
          <p:cNvPr id="214" name="Shape 5"/>
          <p:cNvSpPr/>
          <p:nvPr/>
        </p:nvSpPr>
        <p:spPr>
          <a:xfrm>
            <a:off x="6172200" y="2423160"/>
            <a:ext cx="73152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6"/>
          <p:cNvSpPr/>
          <p:nvPr/>
        </p:nvSpPr>
        <p:spPr>
          <a:xfrm>
            <a:off x="8092440" y="2423160"/>
            <a:ext cx="73152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Shape 7"/>
          <p:cNvSpPr/>
          <p:nvPr/>
        </p:nvSpPr>
        <p:spPr>
          <a:xfrm>
            <a:off x="10012680" y="2423160"/>
            <a:ext cx="73152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Shape 8"/>
          <p:cNvSpPr/>
          <p:nvPr/>
        </p:nvSpPr>
        <p:spPr>
          <a:xfrm>
            <a:off x="6172200" y="1920240"/>
            <a:ext cx="1645560" cy="100548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9"/>
          <p:cNvSpPr/>
          <p:nvPr/>
        </p:nvSpPr>
        <p:spPr>
          <a:xfrm>
            <a:off x="6309360" y="208476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784</a:t>
            </a:r>
            <a:r>
              <a:rPr b="1" lang="ko-KR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개</a:t>
            </a:r>
            <a:endParaRPr b="0" lang="en-US" sz="1700" spc="-1" strike="noStrike">
              <a:latin typeface="Noto Sans CJK KR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6336720" y="2450520"/>
            <a:ext cx="1316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그림을 한 줄로 펼침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20" name="Shape 11"/>
          <p:cNvSpPr/>
          <p:nvPr/>
        </p:nvSpPr>
        <p:spPr>
          <a:xfrm>
            <a:off x="8092440" y="1920240"/>
            <a:ext cx="1645560" cy="1005480"/>
          </a:xfrm>
          <a:prstGeom prst="roundRect">
            <a:avLst>
              <a:gd name="adj" fmla="val 7273"/>
            </a:avLst>
          </a:prstGeom>
          <a:solidFill>
            <a:srgbClr val="fff3d6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12"/>
          <p:cNvSpPr/>
          <p:nvPr/>
        </p:nvSpPr>
        <p:spPr>
          <a:xfrm>
            <a:off x="8229600" y="208476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512</a:t>
            </a:r>
            <a:r>
              <a:rPr b="1" lang="ko-KR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개</a:t>
            </a:r>
            <a:endParaRPr b="0" lang="en-US" sz="1700" spc="-1" strike="noStrike">
              <a:latin typeface="Noto Sans CJK KR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8256960" y="2450520"/>
            <a:ext cx="1316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첫 번째 단서 점수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23" name="Shape 14"/>
          <p:cNvSpPr/>
          <p:nvPr/>
        </p:nvSpPr>
        <p:spPr>
          <a:xfrm>
            <a:off x="10012680" y="1920240"/>
            <a:ext cx="1645560" cy="1005480"/>
          </a:xfrm>
          <a:prstGeom prst="roundRect">
            <a:avLst>
              <a:gd name="adj" fmla="val 7273"/>
            </a:avLst>
          </a:prstGeom>
          <a:solidFill>
            <a:srgbClr val="dff4ea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5"/>
          <p:cNvSpPr/>
          <p:nvPr/>
        </p:nvSpPr>
        <p:spPr>
          <a:xfrm>
            <a:off x="10149840" y="208476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256</a:t>
            </a:r>
            <a:r>
              <a:rPr b="1" lang="ko-KR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개</a:t>
            </a:r>
            <a:endParaRPr b="0" lang="en-US" sz="1700" spc="-1" strike="noStrike">
              <a:latin typeface="Noto Sans CJK KR"/>
            </a:endParaRPr>
          </a:p>
        </p:txBody>
      </p:sp>
      <p:sp>
        <p:nvSpPr>
          <p:cNvPr id="225" name="Text 16"/>
          <p:cNvSpPr/>
          <p:nvPr/>
        </p:nvSpPr>
        <p:spPr>
          <a:xfrm>
            <a:off x="10177200" y="2450520"/>
            <a:ext cx="1316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1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단서 한번 더 정리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26" name="Shape 17"/>
          <p:cNvSpPr/>
          <p:nvPr/>
        </p:nvSpPr>
        <p:spPr>
          <a:xfrm>
            <a:off x="7315200" y="3794760"/>
            <a:ext cx="2148480" cy="1005480"/>
          </a:xfrm>
          <a:prstGeom prst="roundRect">
            <a:avLst>
              <a:gd name="adj" fmla="val 7273"/>
            </a:avLst>
          </a:prstGeom>
          <a:solidFill>
            <a:srgbClr val="fde7ec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18"/>
          <p:cNvSpPr/>
          <p:nvPr/>
        </p:nvSpPr>
        <p:spPr>
          <a:xfrm>
            <a:off x="7452360" y="3959280"/>
            <a:ext cx="1874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10</a:t>
            </a:r>
            <a:r>
              <a:rPr b="1" lang="ko-KR" sz="17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개</a:t>
            </a:r>
            <a:endParaRPr b="0" lang="en-US" sz="1700" spc="-1" strike="noStrike">
              <a:latin typeface="Noto Sans CJK KR"/>
            </a:endParaRPr>
          </a:p>
        </p:txBody>
      </p:sp>
      <p:sp>
        <p:nvSpPr>
          <p:cNvPr id="228" name="Text 19"/>
          <p:cNvSpPr/>
          <p:nvPr/>
        </p:nvSpPr>
        <p:spPr>
          <a:xfrm>
            <a:off x="7479720" y="4325040"/>
            <a:ext cx="1819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0~9 </a:t>
            </a: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점수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229" name="Shape 20"/>
          <p:cNvSpPr/>
          <p:nvPr/>
        </p:nvSpPr>
        <p:spPr>
          <a:xfrm>
            <a:off x="6172200" y="5166360"/>
            <a:ext cx="5166000" cy="5940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1"/>
          <p:cNvSpPr/>
          <p:nvPr/>
        </p:nvSpPr>
        <p:spPr>
          <a:xfrm>
            <a:off x="6400800" y="5312520"/>
            <a:ext cx="47088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60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핵심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: 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모델은 “그림 → 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784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개 숫자 → 단서 점수 → 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0~9 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점수” 순서로 계산합니다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10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Loss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CrossEntropyLoss</a:t>
            </a: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는 무엇인가요</a:t>
            </a: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?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234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모델이 정답에 얼마나 자신 있게 가까워졌는지 알려주는 벌점입니다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235" name="Shape 3"/>
          <p:cNvSpPr/>
          <p:nvPr/>
        </p:nvSpPr>
        <p:spPr>
          <a:xfrm>
            <a:off x="914400" y="2057400"/>
            <a:ext cx="2194200" cy="91404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4"/>
          <p:cNvSpPr/>
          <p:nvPr/>
        </p:nvSpPr>
        <p:spPr>
          <a:xfrm>
            <a:off x="1051560" y="222192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정답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237" name="Text 5"/>
          <p:cNvSpPr/>
          <p:nvPr/>
        </p:nvSpPr>
        <p:spPr>
          <a:xfrm>
            <a:off x="1078920" y="2587680"/>
            <a:ext cx="1865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숫자 </a:t>
            </a:r>
            <a:r>
              <a:rPr b="0" lang="en-US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5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238" name="Shape 6"/>
          <p:cNvSpPr/>
          <p:nvPr/>
        </p:nvSpPr>
        <p:spPr>
          <a:xfrm>
            <a:off x="3246120" y="2514600"/>
            <a:ext cx="73152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Shape 7"/>
          <p:cNvSpPr/>
          <p:nvPr/>
        </p:nvSpPr>
        <p:spPr>
          <a:xfrm>
            <a:off x="3977640" y="2057400"/>
            <a:ext cx="2834280" cy="914040"/>
          </a:xfrm>
          <a:prstGeom prst="roundRect">
            <a:avLst>
              <a:gd name="adj" fmla="val 8000"/>
            </a:avLst>
          </a:prstGeom>
          <a:solidFill>
            <a:srgbClr val="dff4ea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8"/>
          <p:cNvSpPr/>
          <p:nvPr/>
        </p:nvSpPr>
        <p:spPr>
          <a:xfrm>
            <a:off x="4114800" y="222192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좋은 예측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241" name="Text 9"/>
          <p:cNvSpPr/>
          <p:nvPr/>
        </p:nvSpPr>
        <p:spPr>
          <a:xfrm>
            <a:off x="4142160" y="2587680"/>
            <a:ext cx="2505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5</a:t>
            </a:r>
            <a:r>
              <a:rPr b="0" lang="ko-KR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일 가능성 높음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242" name="Shape 10"/>
          <p:cNvSpPr/>
          <p:nvPr/>
        </p:nvSpPr>
        <p:spPr>
          <a:xfrm>
            <a:off x="6967440" y="2514600"/>
            <a:ext cx="73152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Shape 11"/>
          <p:cNvSpPr/>
          <p:nvPr/>
        </p:nvSpPr>
        <p:spPr>
          <a:xfrm>
            <a:off x="7699320" y="2057400"/>
            <a:ext cx="2102760" cy="91404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12"/>
          <p:cNvSpPr/>
          <p:nvPr/>
        </p:nvSpPr>
        <p:spPr>
          <a:xfrm>
            <a:off x="7836480" y="22219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손실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245" name="Text 13"/>
          <p:cNvSpPr/>
          <p:nvPr/>
        </p:nvSpPr>
        <p:spPr>
          <a:xfrm>
            <a:off x="7863840" y="258768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5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작음</a:t>
            </a:r>
            <a:endParaRPr b="0" lang="en-US" sz="1500" spc="-1" strike="noStrike">
              <a:latin typeface="Noto Sans CJK KR"/>
            </a:endParaRPr>
          </a:p>
        </p:txBody>
      </p:sp>
      <p:sp>
        <p:nvSpPr>
          <p:cNvPr id="246" name="Shape 14"/>
          <p:cNvSpPr/>
          <p:nvPr/>
        </p:nvSpPr>
        <p:spPr>
          <a:xfrm>
            <a:off x="914400" y="3886200"/>
            <a:ext cx="2194200" cy="91404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15"/>
          <p:cNvSpPr/>
          <p:nvPr/>
        </p:nvSpPr>
        <p:spPr>
          <a:xfrm>
            <a:off x="1051560" y="405072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정답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248" name="Text 16"/>
          <p:cNvSpPr/>
          <p:nvPr/>
        </p:nvSpPr>
        <p:spPr>
          <a:xfrm>
            <a:off x="1078920" y="4416480"/>
            <a:ext cx="1865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숫자 </a:t>
            </a:r>
            <a:r>
              <a:rPr b="0" lang="en-US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5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249" name="Shape 17"/>
          <p:cNvSpPr/>
          <p:nvPr/>
        </p:nvSpPr>
        <p:spPr>
          <a:xfrm>
            <a:off x="3246120" y="4343400"/>
            <a:ext cx="73152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Shape 18"/>
          <p:cNvSpPr/>
          <p:nvPr/>
        </p:nvSpPr>
        <p:spPr>
          <a:xfrm>
            <a:off x="3977640" y="3886200"/>
            <a:ext cx="2834280" cy="914040"/>
          </a:xfrm>
          <a:prstGeom prst="roundRect">
            <a:avLst>
              <a:gd name="adj" fmla="val 8000"/>
            </a:avLst>
          </a:prstGeom>
          <a:solidFill>
            <a:srgbClr val="fde7ec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9"/>
          <p:cNvSpPr/>
          <p:nvPr/>
        </p:nvSpPr>
        <p:spPr>
          <a:xfrm>
            <a:off x="4114800" y="405072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틀린 예측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252" name="Text 20"/>
          <p:cNvSpPr/>
          <p:nvPr/>
        </p:nvSpPr>
        <p:spPr>
          <a:xfrm>
            <a:off x="4142160" y="4416480"/>
            <a:ext cx="2505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3</a:t>
            </a:r>
            <a:r>
              <a:rPr b="0" lang="ko-KR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일 가능성 높음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253" name="Shape 21"/>
          <p:cNvSpPr/>
          <p:nvPr/>
        </p:nvSpPr>
        <p:spPr>
          <a:xfrm>
            <a:off x="6967440" y="4343400"/>
            <a:ext cx="73152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22"/>
          <p:cNvSpPr/>
          <p:nvPr/>
        </p:nvSpPr>
        <p:spPr>
          <a:xfrm>
            <a:off x="7699320" y="3886200"/>
            <a:ext cx="2102760" cy="914040"/>
          </a:xfrm>
          <a:prstGeom prst="roundRect">
            <a:avLst>
              <a:gd name="adj" fmla="val 8000"/>
            </a:avLst>
          </a:prstGeom>
          <a:solidFill>
            <a:srgbClr val="fde7ec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23"/>
          <p:cNvSpPr/>
          <p:nvPr/>
        </p:nvSpPr>
        <p:spPr>
          <a:xfrm>
            <a:off x="7836480" y="40507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손실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256" name="Text 24"/>
          <p:cNvSpPr/>
          <p:nvPr/>
        </p:nvSpPr>
        <p:spPr>
          <a:xfrm>
            <a:off x="7863840" y="441648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5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큼</a:t>
            </a:r>
            <a:endParaRPr b="0" lang="en-US" sz="1500" spc="-1" strike="noStrike">
              <a:latin typeface="Noto Sans CJK KR"/>
            </a:endParaRPr>
          </a:p>
        </p:txBody>
      </p:sp>
      <p:sp>
        <p:nvSpPr>
          <p:cNvPr id="257" name="Shape 25"/>
          <p:cNvSpPr/>
          <p:nvPr/>
        </p:nvSpPr>
        <p:spPr>
          <a:xfrm>
            <a:off x="1325880" y="5486400"/>
            <a:ext cx="9326520" cy="56664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26"/>
          <p:cNvSpPr/>
          <p:nvPr/>
        </p:nvSpPr>
        <p:spPr>
          <a:xfrm>
            <a:off x="1554480" y="5632560"/>
            <a:ext cx="8869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핵심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: 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정답을 자신 있게 맞히면 손실이 작고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, 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틀린 답을 자신 있게 말하면 손실이 커집니다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59" name="Text 27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11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SGD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SGD</a:t>
            </a: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는 무엇인가요</a:t>
            </a:r>
            <a:r>
              <a:rPr b="1" lang="en-US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?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틀린 만큼 모델의 가중치를 조금씩 고치는 방법입니다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graphicFrame>
        <p:nvGraphicFramePr>
          <p:cNvPr id="263" name="Chart 0"/>
          <p:cNvGraphicFramePr/>
          <p:nvPr/>
        </p:nvGraphicFramePr>
        <p:xfrm>
          <a:off x="822960" y="2057400"/>
          <a:ext cx="480024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4" name="Shape 3"/>
          <p:cNvSpPr/>
          <p:nvPr/>
        </p:nvSpPr>
        <p:spPr>
          <a:xfrm>
            <a:off x="6446520" y="1874520"/>
            <a:ext cx="4160160" cy="68544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4"/>
          <p:cNvSpPr/>
          <p:nvPr/>
        </p:nvSpPr>
        <p:spPr>
          <a:xfrm>
            <a:off x="6675120" y="2020680"/>
            <a:ext cx="37029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한 번에 완벽하게 고치지 않습니다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66" name="Shape 5"/>
          <p:cNvSpPr/>
          <p:nvPr/>
        </p:nvSpPr>
        <p:spPr>
          <a:xfrm>
            <a:off x="6446520" y="2834640"/>
            <a:ext cx="4160160" cy="776880"/>
          </a:xfrm>
          <a:prstGeom prst="roundRect">
            <a:avLst>
              <a:gd name="adj" fmla="val 8235"/>
            </a:avLst>
          </a:prstGeom>
          <a:solidFill>
            <a:srgbClr val="dff4ea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6"/>
          <p:cNvSpPr/>
          <p:nvPr/>
        </p:nvSpPr>
        <p:spPr>
          <a:xfrm>
            <a:off x="6675120" y="2980800"/>
            <a:ext cx="37029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8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작은 묶음의 데이터를 보고 조금씩 방향을 잡습니다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68" name="Shape 7"/>
          <p:cNvSpPr/>
          <p:nvPr/>
        </p:nvSpPr>
        <p:spPr>
          <a:xfrm>
            <a:off x="6446520" y="3886200"/>
            <a:ext cx="4160160" cy="776880"/>
          </a:xfrm>
          <a:prstGeom prst="roundRect">
            <a:avLst>
              <a:gd name="adj" fmla="val 8235"/>
            </a:avLst>
          </a:prstGeom>
          <a:solidFill>
            <a:srgbClr val="fff3d6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8"/>
          <p:cNvSpPr/>
          <p:nvPr/>
        </p:nvSpPr>
        <p:spPr>
          <a:xfrm>
            <a:off x="6675120" y="4032360"/>
            <a:ext cx="37029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8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lr=0.01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은 한 번에 얼마나 움직일지 정하는 값입니다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70" name="Shape 9"/>
          <p:cNvSpPr/>
          <p:nvPr/>
        </p:nvSpPr>
        <p:spPr>
          <a:xfrm>
            <a:off x="6446520" y="4983480"/>
            <a:ext cx="4160160" cy="5940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10"/>
          <p:cNvSpPr/>
          <p:nvPr/>
        </p:nvSpPr>
        <p:spPr>
          <a:xfrm>
            <a:off x="6675120" y="5129640"/>
            <a:ext cx="37029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63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momentum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은 이전에 가던 방향을 조금 기억하는 느낌입니다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272" name="Text 11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12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학습 반복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학습은 이렇게 반복됩니다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275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예측하고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틀린 정도를 계산하고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조금 고치는 일을 계속합니다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276" name="Shape 3"/>
          <p:cNvSpPr/>
          <p:nvPr/>
        </p:nvSpPr>
        <p:spPr>
          <a:xfrm>
            <a:off x="4892040" y="2377440"/>
            <a:ext cx="169164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Shape 4"/>
          <p:cNvSpPr/>
          <p:nvPr/>
        </p:nvSpPr>
        <p:spPr>
          <a:xfrm>
            <a:off x="8641080" y="2880360"/>
            <a:ext cx="360" cy="96012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Shape 5"/>
          <p:cNvSpPr/>
          <p:nvPr/>
        </p:nvSpPr>
        <p:spPr>
          <a:xfrm flipH="1">
            <a:off x="4892040" y="4480560"/>
            <a:ext cx="1691640" cy="36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Shape 6"/>
          <p:cNvSpPr/>
          <p:nvPr/>
        </p:nvSpPr>
        <p:spPr>
          <a:xfrm flipV="1">
            <a:off x="2971800" y="2880360"/>
            <a:ext cx="360" cy="960120"/>
          </a:xfrm>
          <a:prstGeom prst="line">
            <a:avLst/>
          </a:prstGeom>
          <a:ln w="25400">
            <a:solidFill>
              <a:srgbClr val="2531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Shape 7"/>
          <p:cNvSpPr/>
          <p:nvPr/>
        </p:nvSpPr>
        <p:spPr>
          <a:xfrm>
            <a:off x="1051560" y="1874520"/>
            <a:ext cx="3840120" cy="100548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8"/>
          <p:cNvSpPr/>
          <p:nvPr/>
        </p:nvSpPr>
        <p:spPr>
          <a:xfrm>
            <a:off x="1188720" y="203904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1. </a:t>
            </a:r>
            <a:r>
              <a:rPr b="1" lang="ko-KR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예측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82" name="Text 9"/>
          <p:cNvSpPr/>
          <p:nvPr/>
        </p:nvSpPr>
        <p:spPr>
          <a:xfrm>
            <a:off x="1216080" y="2404800"/>
            <a:ext cx="351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5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모델이 답을 고름</a:t>
            </a:r>
            <a:endParaRPr b="0" lang="en-US" sz="1500" spc="-1" strike="noStrike">
              <a:latin typeface="Noto Sans CJK KR"/>
            </a:endParaRPr>
          </a:p>
        </p:txBody>
      </p:sp>
      <p:sp>
        <p:nvSpPr>
          <p:cNvPr id="283" name="Shape 10"/>
          <p:cNvSpPr/>
          <p:nvPr/>
        </p:nvSpPr>
        <p:spPr>
          <a:xfrm>
            <a:off x="6720840" y="1874520"/>
            <a:ext cx="3840120" cy="1005480"/>
          </a:xfrm>
          <a:prstGeom prst="roundRect">
            <a:avLst>
              <a:gd name="adj" fmla="val 7273"/>
            </a:avLst>
          </a:prstGeom>
          <a:solidFill>
            <a:srgbClr val="fff3d6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11"/>
          <p:cNvSpPr/>
          <p:nvPr/>
        </p:nvSpPr>
        <p:spPr>
          <a:xfrm>
            <a:off x="6858000" y="203904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2. </a:t>
            </a:r>
            <a:r>
              <a:rPr b="1" lang="ko-KR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손실 계산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85" name="Text 12"/>
          <p:cNvSpPr/>
          <p:nvPr/>
        </p:nvSpPr>
        <p:spPr>
          <a:xfrm>
            <a:off x="6885360" y="2404800"/>
            <a:ext cx="351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5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얼마나 틀렸는지 봄</a:t>
            </a:r>
            <a:endParaRPr b="0" lang="en-US" sz="1500" spc="-1" strike="noStrike">
              <a:latin typeface="Noto Sans CJK KR"/>
            </a:endParaRPr>
          </a:p>
        </p:txBody>
      </p:sp>
      <p:sp>
        <p:nvSpPr>
          <p:cNvPr id="286" name="Shape 13"/>
          <p:cNvSpPr/>
          <p:nvPr/>
        </p:nvSpPr>
        <p:spPr>
          <a:xfrm>
            <a:off x="6720840" y="3977640"/>
            <a:ext cx="3840120" cy="1005480"/>
          </a:xfrm>
          <a:prstGeom prst="roundRect">
            <a:avLst>
              <a:gd name="adj" fmla="val 7273"/>
            </a:avLst>
          </a:prstGeom>
          <a:solidFill>
            <a:srgbClr val="dff4ea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14"/>
          <p:cNvSpPr/>
          <p:nvPr/>
        </p:nvSpPr>
        <p:spPr>
          <a:xfrm>
            <a:off x="6858000" y="414216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3. </a:t>
            </a:r>
            <a:r>
              <a:rPr b="1" lang="ko-KR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뒤로 계산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88" name="Text 15"/>
          <p:cNvSpPr/>
          <p:nvPr/>
        </p:nvSpPr>
        <p:spPr>
          <a:xfrm>
            <a:off x="6885360" y="4507920"/>
            <a:ext cx="351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5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어디를 고칠지 찾음</a:t>
            </a:r>
            <a:endParaRPr b="0" lang="en-US" sz="1500" spc="-1" strike="noStrike">
              <a:latin typeface="Noto Sans CJK KR"/>
            </a:endParaRPr>
          </a:p>
        </p:txBody>
      </p:sp>
      <p:sp>
        <p:nvSpPr>
          <p:cNvPr id="289" name="Shape 16"/>
          <p:cNvSpPr/>
          <p:nvPr/>
        </p:nvSpPr>
        <p:spPr>
          <a:xfrm>
            <a:off x="1051560" y="3977640"/>
            <a:ext cx="3840120" cy="1005480"/>
          </a:xfrm>
          <a:prstGeom prst="roundRect">
            <a:avLst>
              <a:gd name="adj" fmla="val 7273"/>
            </a:avLst>
          </a:prstGeom>
          <a:solidFill>
            <a:srgbClr val="fde7ec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17"/>
          <p:cNvSpPr/>
          <p:nvPr/>
        </p:nvSpPr>
        <p:spPr>
          <a:xfrm>
            <a:off x="1188720" y="414216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4. </a:t>
            </a:r>
            <a:r>
              <a:rPr b="1" lang="ko-KR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가중치 수정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91" name="Text 18"/>
          <p:cNvSpPr/>
          <p:nvPr/>
        </p:nvSpPr>
        <p:spPr>
          <a:xfrm>
            <a:off x="1216080" y="4507920"/>
            <a:ext cx="3511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SGD</a:t>
            </a:r>
            <a:r>
              <a:rPr b="0" lang="ko-KR" sz="15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로 조금 고침</a:t>
            </a:r>
            <a:endParaRPr b="0" lang="en-US" sz="1500" spc="-1" strike="noStrike">
              <a:latin typeface="Noto Sans CJK KR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1234440" y="589788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5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이 반복을 여러 번 하면 모델은 조금씩 더 좋은 답을 고르게 됩니다</a:t>
            </a:r>
            <a:r>
              <a:rPr b="1" lang="en-US" sz="22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2200" spc="-1" strike="noStrike">
              <a:latin typeface="Noto Sans CJK KR"/>
            </a:endParaRPr>
          </a:p>
        </p:txBody>
      </p:sp>
      <p:sp>
        <p:nvSpPr>
          <p:cNvPr id="293" name="Text 20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13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검증 코드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마지막에는 “시험”도 봐야 합니다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학습 데이터만 잘 맞히는지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처음 보는 테스트 문제도 맞히는지 확인합니다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822960" y="1874520"/>
            <a:ext cx="5028840" cy="2148480"/>
          </a:xfrm>
          <a:prstGeom prst="roundRect">
            <a:avLst>
              <a:gd name="adj" fmla="val 1702"/>
            </a:avLst>
          </a:prstGeom>
          <a:solidFill>
            <a:srgbClr val="0b1220"/>
          </a:solidFill>
          <a:ln w="12700">
            <a:solidFill>
              <a:srgbClr val="1d293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4"/>
          <p:cNvSpPr/>
          <p:nvPr/>
        </p:nvSpPr>
        <p:spPr>
          <a:xfrm>
            <a:off x="987480" y="2011680"/>
            <a:ext cx="469980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evaluate(model, test_loader)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→ </a:t>
            </a:r>
            <a:r>
              <a:rPr b="0" lang="ko-KR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처음 보는 문제로 시험 보기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prediction = </a:t>
            </a:r>
            <a:r>
              <a:rPr b="0" lang="ko-KR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가장 큰 점수의 숫자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accuracy   = </a:t>
            </a:r>
            <a:r>
              <a:rPr b="0" lang="ko-KR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맞힌 개수 </a:t>
            </a: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/ </a:t>
            </a:r>
            <a:r>
              <a:rPr b="0" lang="ko-KR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전체 개수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loss       = </a:t>
            </a:r>
            <a:r>
              <a:rPr b="0" lang="ko-KR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얼마나 헷갈렸는지</a:t>
            </a:r>
            <a:endParaRPr b="0" lang="en-US" sz="1100" spc="-1" strike="noStrike">
              <a:latin typeface="Noto Sans CJK KR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confusion_matrix = </a:t>
            </a:r>
            <a:r>
              <a:rPr b="0" lang="ko-KR" sz="1100" spc="-1" strike="noStrike">
                <a:solidFill>
                  <a:srgbClr val="f8fafc"/>
                </a:solidFill>
                <a:latin typeface="Noto Sans CJK KR"/>
                <a:ea typeface="Noto Sans CJK KR"/>
              </a:rPr>
              <a:t>헷갈린 숫자 표</a:t>
            </a:r>
            <a:endParaRPr b="0" lang="en-US" sz="1100" spc="-1" strike="noStrike">
              <a:latin typeface="Noto Sans CJK KR"/>
            </a:endParaRPr>
          </a:p>
        </p:txBody>
      </p:sp>
      <p:sp>
        <p:nvSpPr>
          <p:cNvPr id="299" name="Shape 5"/>
          <p:cNvSpPr/>
          <p:nvPr/>
        </p:nvSpPr>
        <p:spPr>
          <a:xfrm>
            <a:off x="6400800" y="1783080"/>
            <a:ext cx="1919880" cy="1142640"/>
          </a:xfrm>
          <a:prstGeom prst="roundRect">
            <a:avLst>
              <a:gd name="adj" fmla="val 6400"/>
            </a:avLst>
          </a:prstGeom>
          <a:solidFill>
            <a:srgbClr val="dff4ea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6"/>
          <p:cNvSpPr/>
          <p:nvPr/>
        </p:nvSpPr>
        <p:spPr>
          <a:xfrm>
            <a:off x="6537960" y="194760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정확도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6565320" y="2313360"/>
            <a:ext cx="159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100</a:t>
            </a: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문제 중</a:t>
            </a:r>
            <a:endParaRPr b="0" lang="en-US" sz="12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몇 문제를 맞혔는지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8915400" y="1783080"/>
            <a:ext cx="1919880" cy="1142640"/>
          </a:xfrm>
          <a:prstGeom prst="roundRect">
            <a:avLst>
              <a:gd name="adj" fmla="val 6400"/>
            </a:avLst>
          </a:prstGeom>
          <a:solidFill>
            <a:srgbClr val="fff3d6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9"/>
          <p:cNvSpPr/>
          <p:nvPr/>
        </p:nvSpPr>
        <p:spPr>
          <a:xfrm>
            <a:off x="9052560" y="194760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손실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04" name="Text 10"/>
          <p:cNvSpPr/>
          <p:nvPr/>
        </p:nvSpPr>
        <p:spPr>
          <a:xfrm>
            <a:off x="9079920" y="2313360"/>
            <a:ext cx="159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정답과 얼마나</a:t>
            </a:r>
            <a:endParaRPr b="0" lang="en-US" sz="12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멀리 있는지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305" name="Shape 11"/>
          <p:cNvSpPr/>
          <p:nvPr/>
        </p:nvSpPr>
        <p:spPr>
          <a:xfrm>
            <a:off x="6400800" y="3703320"/>
            <a:ext cx="1919880" cy="114264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12"/>
          <p:cNvSpPr/>
          <p:nvPr/>
        </p:nvSpPr>
        <p:spPr>
          <a:xfrm>
            <a:off x="6537960" y="386784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혼동 행렬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07" name="Text 13"/>
          <p:cNvSpPr/>
          <p:nvPr/>
        </p:nvSpPr>
        <p:spPr>
          <a:xfrm>
            <a:off x="6565320" y="4233600"/>
            <a:ext cx="159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어떤 숫자끼리</a:t>
            </a:r>
            <a:endParaRPr b="0" lang="en-US" sz="12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헷갈리는지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308" name="Shape 14"/>
          <p:cNvSpPr/>
          <p:nvPr/>
        </p:nvSpPr>
        <p:spPr>
          <a:xfrm>
            <a:off x="8915400" y="3703320"/>
            <a:ext cx="1919880" cy="1142640"/>
          </a:xfrm>
          <a:prstGeom prst="roundRect">
            <a:avLst>
              <a:gd name="adj" fmla="val 6400"/>
            </a:avLst>
          </a:prstGeom>
          <a:solidFill>
            <a:srgbClr val="fde7ec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15"/>
          <p:cNvSpPr/>
          <p:nvPr/>
        </p:nvSpPr>
        <p:spPr>
          <a:xfrm>
            <a:off x="9052560" y="386784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Pred / True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10" name="Text 16"/>
          <p:cNvSpPr/>
          <p:nvPr/>
        </p:nvSpPr>
        <p:spPr>
          <a:xfrm>
            <a:off x="9079920" y="4233600"/>
            <a:ext cx="159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예측과 정답을</a:t>
            </a:r>
            <a:endParaRPr b="0" lang="en-US" sz="1200" spc="-1" strike="noStrike">
              <a:latin typeface="Noto Sans CJK KR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눈으로 비교</a:t>
            </a:r>
            <a:endParaRPr b="0" lang="en-US" sz="1200" spc="-1" strike="noStrike">
              <a:latin typeface="Noto Sans CJK KR"/>
            </a:endParaRPr>
          </a:p>
        </p:txBody>
      </p:sp>
      <p:sp>
        <p:nvSpPr>
          <p:cNvPr id="311" name="Shape 17"/>
          <p:cNvSpPr/>
          <p:nvPr/>
        </p:nvSpPr>
        <p:spPr>
          <a:xfrm>
            <a:off x="1051560" y="5532120"/>
            <a:ext cx="9966600" cy="5940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18"/>
          <p:cNvSpPr/>
          <p:nvPr/>
        </p:nvSpPr>
        <p:spPr>
          <a:xfrm>
            <a:off x="1280160" y="5678280"/>
            <a:ext cx="95094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수업 멘트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: “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모델을 만들고 끝이 아니라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, 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어디서 틀리는지 확인해야 진짜 공부가 끝납니다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.”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13" name="Text 19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14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수업 활동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잠깐 확인 문제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아래 상황에서 모델은 어떤 숫자를 고를까요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?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317" name="Shape 3"/>
          <p:cNvSpPr/>
          <p:nvPr/>
        </p:nvSpPr>
        <p:spPr>
          <a:xfrm>
            <a:off x="822960" y="1828800"/>
            <a:ext cx="3840120" cy="3382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4"/>
          <p:cNvSpPr/>
          <p:nvPr/>
        </p:nvSpPr>
        <p:spPr>
          <a:xfrm>
            <a:off x="1143000" y="210312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모델의 </a:t>
            </a:r>
            <a:r>
              <a:rPr b="1" lang="en-US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0~9 </a:t>
            </a: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점수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19" name="Text 5"/>
          <p:cNvSpPr/>
          <p:nvPr/>
        </p:nvSpPr>
        <p:spPr>
          <a:xfrm>
            <a:off x="1325880" y="260604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0: 0.01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2834640" y="260604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1: 0.03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21" name="Text 7"/>
          <p:cNvSpPr/>
          <p:nvPr/>
        </p:nvSpPr>
        <p:spPr>
          <a:xfrm>
            <a:off x="1325880" y="299916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2: 0.06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22" name="Text 8"/>
          <p:cNvSpPr/>
          <p:nvPr/>
        </p:nvSpPr>
        <p:spPr>
          <a:xfrm>
            <a:off x="2834640" y="299916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3: 0.05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23" name="Text 9"/>
          <p:cNvSpPr/>
          <p:nvPr/>
        </p:nvSpPr>
        <p:spPr>
          <a:xfrm>
            <a:off x="1325880" y="339228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4: 0.02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24" name="Text 10"/>
          <p:cNvSpPr/>
          <p:nvPr/>
        </p:nvSpPr>
        <p:spPr>
          <a:xfrm>
            <a:off x="2834640" y="339228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5: 0.12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25" name="Text 11"/>
          <p:cNvSpPr/>
          <p:nvPr/>
        </p:nvSpPr>
        <p:spPr>
          <a:xfrm>
            <a:off x="1325880" y="378576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6: 0.04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26" name="Text 12"/>
          <p:cNvSpPr/>
          <p:nvPr/>
        </p:nvSpPr>
        <p:spPr>
          <a:xfrm>
            <a:off x="2834640" y="378576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7: 0.03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27" name="Text 13"/>
          <p:cNvSpPr/>
          <p:nvPr/>
        </p:nvSpPr>
        <p:spPr>
          <a:xfrm>
            <a:off x="1325880" y="417888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164e0"/>
                </a:solidFill>
                <a:latin typeface="Noto Sans CJK KR"/>
                <a:ea typeface="Noto Sans CJK KR"/>
              </a:rPr>
              <a:t>8: 0.60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28" name="Text 14"/>
          <p:cNvSpPr/>
          <p:nvPr/>
        </p:nvSpPr>
        <p:spPr>
          <a:xfrm>
            <a:off x="2834640" y="417888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9: 0.04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29" name="Shape 15"/>
          <p:cNvSpPr/>
          <p:nvPr/>
        </p:nvSpPr>
        <p:spPr>
          <a:xfrm>
            <a:off x="5715000" y="1874520"/>
            <a:ext cx="4480200" cy="86832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16"/>
          <p:cNvSpPr/>
          <p:nvPr/>
        </p:nvSpPr>
        <p:spPr>
          <a:xfrm>
            <a:off x="5852160" y="203904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질문 </a:t>
            </a:r>
            <a:r>
              <a:rPr b="1" lang="en-US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1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31" name="Text 17"/>
          <p:cNvSpPr/>
          <p:nvPr/>
        </p:nvSpPr>
        <p:spPr>
          <a:xfrm>
            <a:off x="5879520" y="2404800"/>
            <a:ext cx="415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가장 높은 점수는 몇 번인가요</a:t>
            </a:r>
            <a:r>
              <a:rPr b="0" lang="en-US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?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32" name="Shape 18"/>
          <p:cNvSpPr/>
          <p:nvPr/>
        </p:nvSpPr>
        <p:spPr>
          <a:xfrm>
            <a:off x="5715000" y="3063240"/>
            <a:ext cx="4480200" cy="868320"/>
          </a:xfrm>
          <a:prstGeom prst="roundRect">
            <a:avLst>
              <a:gd name="adj" fmla="val 8421"/>
            </a:avLst>
          </a:prstGeom>
          <a:solidFill>
            <a:srgbClr val="dff4ea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19"/>
          <p:cNvSpPr/>
          <p:nvPr/>
        </p:nvSpPr>
        <p:spPr>
          <a:xfrm>
            <a:off x="5852160" y="322776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질문 </a:t>
            </a:r>
            <a:r>
              <a:rPr b="1" lang="en-US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2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34" name="Text 20"/>
          <p:cNvSpPr/>
          <p:nvPr/>
        </p:nvSpPr>
        <p:spPr>
          <a:xfrm>
            <a:off x="5879520" y="3593520"/>
            <a:ext cx="415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정답이 </a:t>
            </a:r>
            <a:r>
              <a:rPr b="0" lang="en-US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8</a:t>
            </a:r>
            <a:r>
              <a:rPr b="0" lang="ko-KR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이면 손실은 클까요</a:t>
            </a:r>
            <a:r>
              <a:rPr b="0" lang="en-US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작을까요</a:t>
            </a:r>
            <a:r>
              <a:rPr b="0" lang="en-US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?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35" name="Shape 21"/>
          <p:cNvSpPr/>
          <p:nvPr/>
        </p:nvSpPr>
        <p:spPr>
          <a:xfrm>
            <a:off x="5715000" y="4251960"/>
            <a:ext cx="4480200" cy="868320"/>
          </a:xfrm>
          <a:prstGeom prst="roundRect">
            <a:avLst>
              <a:gd name="adj" fmla="val 8421"/>
            </a:avLst>
          </a:prstGeom>
          <a:solidFill>
            <a:srgbClr val="fde7ec"/>
          </a:solidFill>
          <a:ln w="1778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22"/>
          <p:cNvSpPr/>
          <p:nvPr/>
        </p:nvSpPr>
        <p:spPr>
          <a:xfrm>
            <a:off x="5852160" y="441648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질문 </a:t>
            </a:r>
            <a:r>
              <a:rPr b="1" lang="en-US" sz="20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3</a:t>
            </a:r>
            <a:endParaRPr b="0" lang="en-US" sz="2000" spc="-1" strike="noStrike">
              <a:latin typeface="Noto Sans CJK KR"/>
            </a:endParaRPr>
          </a:p>
        </p:txBody>
      </p:sp>
      <p:sp>
        <p:nvSpPr>
          <p:cNvPr id="337" name="Text 23"/>
          <p:cNvSpPr/>
          <p:nvPr/>
        </p:nvSpPr>
        <p:spPr>
          <a:xfrm>
            <a:off x="5879520" y="4782240"/>
            <a:ext cx="415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정답이 </a:t>
            </a:r>
            <a:r>
              <a:rPr b="0" lang="en-US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3</a:t>
            </a:r>
            <a:r>
              <a:rPr b="0" lang="ko-KR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이면 손실은 클까요</a:t>
            </a:r>
            <a:r>
              <a:rPr b="0" lang="en-US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, </a:t>
            </a:r>
            <a:r>
              <a:rPr b="0" lang="ko-KR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작을까요</a:t>
            </a:r>
            <a:r>
              <a:rPr b="0" lang="en-US" sz="14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?</a:t>
            </a:r>
            <a:endParaRPr b="0" lang="en-US" sz="1400" spc="-1" strike="noStrike">
              <a:latin typeface="Noto Sans CJK KR"/>
            </a:endParaRPr>
          </a:p>
        </p:txBody>
      </p:sp>
      <p:sp>
        <p:nvSpPr>
          <p:cNvPr id="338" name="Shape 24"/>
          <p:cNvSpPr/>
          <p:nvPr/>
        </p:nvSpPr>
        <p:spPr>
          <a:xfrm>
            <a:off x="1188720" y="5715000"/>
            <a:ext cx="9600840" cy="502560"/>
          </a:xfrm>
          <a:prstGeom prst="roundRect">
            <a:avLst>
              <a:gd name="adj" fmla="val 12727"/>
            </a:avLst>
          </a:prstGeom>
          <a:solidFill>
            <a:srgbClr val="fff3d6"/>
          </a:solidFill>
          <a:ln w="15240">
            <a:solidFill>
              <a:srgbClr val="d0d5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25"/>
          <p:cNvSpPr/>
          <p:nvPr/>
        </p:nvSpPr>
        <p:spPr>
          <a:xfrm>
            <a:off x="1417320" y="5861160"/>
            <a:ext cx="91436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“</a:t>
            </a:r>
            <a:r>
              <a:rPr b="1" lang="ko-KR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왜 그렇게 생각했는지”를 묻습니다</a:t>
            </a:r>
            <a:r>
              <a:rPr b="1" lang="en-US" sz="18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.</a:t>
            </a:r>
            <a:endParaRPr b="0" lang="en-US" sz="1800" spc="-1" strike="noStrike">
              <a:latin typeface="Noto Sans CJK KR"/>
            </a:endParaRPr>
          </a:p>
        </p:txBody>
      </p:sp>
      <p:sp>
        <p:nvSpPr>
          <p:cNvPr id="340" name="Text 26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15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594360" y="63550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한 장 정리</a:t>
            </a:r>
            <a:endParaRPr b="0" lang="en-US" sz="800" spc="-1" strike="noStrike">
              <a:latin typeface="Noto Sans CJK KR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640080" y="4388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31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한 장 정리</a:t>
            </a:r>
            <a:endParaRPr b="0" lang="en-US" sz="3100" spc="-1" strike="noStrike">
              <a:latin typeface="Noto Sans CJK KR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658440" y="1078920"/>
            <a:ext cx="9875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코드 속 어려운 이름을 쉬운 역할로 바꾸면 이렇게 볼 수 있습니다</a:t>
            </a:r>
            <a:r>
              <a:rPr b="0" lang="en-US" sz="1600" spc="-1" strike="noStrike">
                <a:solidFill>
                  <a:srgbClr val="475467"/>
                </a:solidFill>
                <a:latin typeface="Noto Sans CJK KR"/>
                <a:ea typeface="Noto Sans CJK KR"/>
              </a:rPr>
              <a:t>.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868680" y="1828800"/>
            <a:ext cx="2377080" cy="41112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016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Text 4"/>
          <p:cNvSpPr/>
          <p:nvPr/>
        </p:nvSpPr>
        <p:spPr>
          <a:xfrm>
            <a:off x="960120" y="192024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3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Deep Learning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3657600" y="1874520"/>
            <a:ext cx="7406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예시를 많이 보고 스스로 규칙을 찾는 방법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347" name="Shape 6"/>
          <p:cNvSpPr/>
          <p:nvPr/>
        </p:nvSpPr>
        <p:spPr>
          <a:xfrm>
            <a:off x="868680" y="2359080"/>
            <a:ext cx="2377080" cy="41112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016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Text 7"/>
          <p:cNvSpPr/>
          <p:nvPr/>
        </p:nvSpPr>
        <p:spPr>
          <a:xfrm>
            <a:off x="960120" y="245052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3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Linear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349" name="Text 8"/>
          <p:cNvSpPr/>
          <p:nvPr/>
        </p:nvSpPr>
        <p:spPr>
          <a:xfrm>
            <a:off x="3657600" y="2404800"/>
            <a:ext cx="7406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입력 숫자들을 섞어서 새 단서 점수를 만드는 계산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350" name="Shape 9"/>
          <p:cNvSpPr/>
          <p:nvPr/>
        </p:nvSpPr>
        <p:spPr>
          <a:xfrm>
            <a:off x="868680" y="2889360"/>
            <a:ext cx="2377080" cy="41112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016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10"/>
          <p:cNvSpPr/>
          <p:nvPr/>
        </p:nvSpPr>
        <p:spPr>
          <a:xfrm>
            <a:off x="960120" y="298080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3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sigmoid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352" name="Text 11"/>
          <p:cNvSpPr/>
          <p:nvPr/>
        </p:nvSpPr>
        <p:spPr>
          <a:xfrm>
            <a:off x="3657600" y="2935080"/>
            <a:ext cx="7406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계산 결과를 </a:t>
            </a:r>
            <a:r>
              <a:rPr b="0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0</a:t>
            </a:r>
            <a:r>
              <a:rPr b="0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과 </a:t>
            </a:r>
            <a:r>
              <a:rPr b="0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1 </a:t>
            </a:r>
            <a:r>
              <a:rPr b="0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사이로 부드럽게 정리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353" name="Shape 12"/>
          <p:cNvSpPr/>
          <p:nvPr/>
        </p:nvSpPr>
        <p:spPr>
          <a:xfrm>
            <a:off x="868680" y="3420000"/>
            <a:ext cx="2377080" cy="41112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016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Text 13"/>
          <p:cNvSpPr/>
          <p:nvPr/>
        </p:nvSpPr>
        <p:spPr>
          <a:xfrm>
            <a:off x="960120" y="351144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3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log_softmax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355" name="Text 14"/>
          <p:cNvSpPr/>
          <p:nvPr/>
        </p:nvSpPr>
        <p:spPr>
          <a:xfrm>
            <a:off x="3657600" y="3465720"/>
            <a:ext cx="7406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0~9 </a:t>
            </a:r>
            <a:r>
              <a:rPr b="0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점수를 비교하기 좋은 로그 점수로 바꿈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356" name="Shape 15"/>
          <p:cNvSpPr/>
          <p:nvPr/>
        </p:nvSpPr>
        <p:spPr>
          <a:xfrm>
            <a:off x="868680" y="3950280"/>
            <a:ext cx="2377080" cy="41112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016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Text 16"/>
          <p:cNvSpPr/>
          <p:nvPr/>
        </p:nvSpPr>
        <p:spPr>
          <a:xfrm>
            <a:off x="960120" y="404172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3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CrossEntropyLoss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358" name="Text 17"/>
          <p:cNvSpPr/>
          <p:nvPr/>
        </p:nvSpPr>
        <p:spPr>
          <a:xfrm>
            <a:off x="3657600" y="3996000"/>
            <a:ext cx="7406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정답과 예측이 얼마나 다른지 알려주는 벌점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359" name="Shape 18"/>
          <p:cNvSpPr/>
          <p:nvPr/>
        </p:nvSpPr>
        <p:spPr>
          <a:xfrm>
            <a:off x="868680" y="4480560"/>
            <a:ext cx="2377080" cy="41112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0160">
            <a:solidFill>
              <a:srgbClr val="2531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19"/>
          <p:cNvSpPr/>
          <p:nvPr/>
        </p:nvSpPr>
        <p:spPr>
          <a:xfrm>
            <a:off x="960120" y="457200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3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SGD</a:t>
            </a:r>
            <a:endParaRPr b="0" lang="en-US" sz="1300" spc="-1" strike="noStrike">
              <a:latin typeface="Noto Sans CJK KR"/>
            </a:endParaRPr>
          </a:p>
        </p:txBody>
      </p:sp>
      <p:sp>
        <p:nvSpPr>
          <p:cNvPr id="361" name="Text 20"/>
          <p:cNvSpPr/>
          <p:nvPr/>
        </p:nvSpPr>
        <p:spPr>
          <a:xfrm>
            <a:off x="3657600" y="4526280"/>
            <a:ext cx="7406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rgbClr val="101828"/>
                </a:solidFill>
                <a:latin typeface="Noto Sans CJK KR"/>
                <a:ea typeface="Noto Sans CJK KR"/>
              </a:rPr>
              <a:t>손실을 줄이도록 가중치를 조금씩 고치는 방법</a:t>
            </a:r>
            <a:endParaRPr b="0" lang="en-US" sz="1600" spc="-1" strike="noStrike">
              <a:latin typeface="Noto Sans CJK KR"/>
            </a:endParaRPr>
          </a:p>
        </p:txBody>
      </p:sp>
      <p:sp>
        <p:nvSpPr>
          <p:cNvPr id="362" name="Text 21"/>
          <p:cNvSpPr/>
          <p:nvPr/>
        </p:nvSpPr>
        <p:spPr>
          <a:xfrm>
            <a:off x="1097280" y="5669280"/>
            <a:ext cx="996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300" spc="-1" strike="noStrike">
                <a:solidFill>
                  <a:srgbClr val="3164e0"/>
                </a:solidFill>
                <a:latin typeface="Noto Sans CJK KR"/>
                <a:ea typeface="Noto Sans CJK KR"/>
              </a:rPr>
              <a:t>외울 때는 이름보다 역할을 먼저 기억하면 훨씬 쉽습니다</a:t>
            </a:r>
            <a:r>
              <a:rPr b="1" lang="en-US" sz="2300" spc="-1" strike="noStrike">
                <a:solidFill>
                  <a:srgbClr val="3164e0"/>
                </a:solidFill>
                <a:latin typeface="Noto Sans CJK KR"/>
                <a:ea typeface="Noto Sans CJK KR"/>
              </a:rPr>
              <a:t>.</a:t>
            </a:r>
            <a:endParaRPr b="0" lang="en-US" sz="2300" spc="-1" strike="noStrike">
              <a:latin typeface="Noto Sans CJK KR"/>
            </a:endParaRPr>
          </a:p>
        </p:txBody>
      </p:sp>
      <p:sp>
        <p:nvSpPr>
          <p:cNvPr id="363" name="Text 22"/>
          <p:cNvSpPr/>
          <p:nvPr/>
        </p:nvSpPr>
        <p:spPr>
          <a:xfrm>
            <a:off x="11201400" y="6291000"/>
            <a:ext cx="34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8a2b3"/>
                </a:solidFill>
                <a:latin typeface="Noto Sans CJK KR"/>
                <a:ea typeface="Noto Sans CJK KR"/>
              </a:rPr>
              <a:t>16</a:t>
            </a:r>
            <a:endParaRPr b="0" lang="en-US" sz="85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2026-08-28T08:27:33Z</dcterms:created>
  <dc:creator>OpenAI</dc:creator>
  <dc:description/>
  <dc:language>ko-KR</dc:language>
  <cp:lastModifiedBy/>
  <dcterms:modified xsi:type="dcterms:W3CDTF">2026-08-28T17:30:18Z</dcterms:modified>
  <cp:revision>3</cp:revision>
  <dc:subject>중학생 대상 딥러닝 핵심 개념 수업자료</dc:subject>
  <dc:title>딥러닝 핵심 개념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